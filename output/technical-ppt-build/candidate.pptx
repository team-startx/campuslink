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28c4bd7f3644624" /><Relationship Type="http://schemas.openxmlformats.org/officeDocument/2006/relationships/extended-properties" Target="/docProps/app.xml" Id="R5d9b1fee413f4496" /><Relationship Type="http://schemas.openxmlformats.org/officeDocument/2006/relationships/officeDocument" Target="/ppt/presentation.xml" Id="R397e5cb7ac134882" /></Relationships>
</file>

<file path=ppt/presentation.xml><?xml version="1.0" encoding="utf-8"?>
<p:presentation xmlns:p="http://schemas.openxmlformats.org/presentationml/2006/main">
  <p:sldMasterIdLst>
    <p:sldMasterId xmlns:r="http://schemas.openxmlformats.org/officeDocument/2006/relationships" id="2147483648" r:id="R8f091efe65cf4b29"/>
  </p:sldMasterIdLst>
  <p:notesMasterIdLst>
    <p:notesMasterId xmlns:r="http://schemas.openxmlformats.org/officeDocument/2006/relationships" r:id="R32f3be4956aa49d4"/>
  </p:notesMasterIdLst>
  <p:sldIdLst>
    <p:sldId xmlns:r="http://schemas.openxmlformats.org/officeDocument/2006/relationships" id="256" r:id="Ra5965cdcb4c846f1"/>
    <p:sldId xmlns:r="http://schemas.openxmlformats.org/officeDocument/2006/relationships" id="257" r:id="R24b40cbda5104d94"/>
    <p:sldId xmlns:r="http://schemas.openxmlformats.org/officeDocument/2006/relationships" id="258" r:id="R2112a91c158a4cc9"/>
    <p:sldId xmlns:r="http://schemas.openxmlformats.org/officeDocument/2006/relationships" id="259" r:id="R38a6e50002944875"/>
    <p:sldId xmlns:r="http://schemas.openxmlformats.org/officeDocument/2006/relationships" id="260" r:id="R3b3c668a9cc145f9"/>
    <p:sldId xmlns:r="http://schemas.openxmlformats.org/officeDocument/2006/relationships" id="261" r:id="R63c67a0ca2984c5c"/>
    <p:sldId xmlns:r="http://schemas.openxmlformats.org/officeDocument/2006/relationships" id="262" r:id="Rf6bbd34adfef414e"/>
    <p:sldId xmlns:r="http://schemas.openxmlformats.org/officeDocument/2006/relationships" id="263" r:id="R7450ad8822e942c8"/>
    <p:sldId xmlns:r="http://schemas.openxmlformats.org/officeDocument/2006/relationships" id="264" r:id="R2d1c314070534c07"/>
    <p:sldId xmlns:r="http://schemas.openxmlformats.org/officeDocument/2006/relationships" id="265" r:id="R895f70c5da9d492c"/>
    <p:sldId xmlns:r="http://schemas.openxmlformats.org/officeDocument/2006/relationships" id="266" r:id="Rea35e508bd4342dc"/>
    <p:sldId xmlns:r="http://schemas.openxmlformats.org/officeDocument/2006/relationships" id="267" r:id="R982d0dae05c14d63"/>
    <p:sldId xmlns:r="http://schemas.openxmlformats.org/officeDocument/2006/relationships" id="268" r:id="R37528a30701d4b49"/>
    <p:sldId xmlns:r="http://schemas.openxmlformats.org/officeDocument/2006/relationships" id="269" r:id="R745f40d0818e4528"/>
    <p:sldId xmlns:r="http://schemas.openxmlformats.org/officeDocument/2006/relationships" id="270" r:id="Re9d1da6941b546ac"/>
    <p:sldId xmlns:r="http://schemas.openxmlformats.org/officeDocument/2006/relationships" id="271" r:id="R2efc2e6beef64933"/>
    <p:sldId xmlns:r="http://schemas.openxmlformats.org/officeDocument/2006/relationships" id="272" r:id="R8a8e7a5e6bc246dc"/>
    <p:sldId xmlns:r="http://schemas.openxmlformats.org/officeDocument/2006/relationships" id="273" r:id="Red20df91150d472d"/>
    <p:sldId xmlns:r="http://schemas.openxmlformats.org/officeDocument/2006/relationships" id="274" r:id="R18067094c303469c"/>
    <p:sldId xmlns:r="http://schemas.openxmlformats.org/officeDocument/2006/relationships" id="275" r:id="R7ff0f8c6b8ce40ae"/>
    <p:sldId xmlns:r="http://schemas.openxmlformats.org/officeDocument/2006/relationships" id="276" r:id="R5f327a987cf64610"/>
    <p:sldId xmlns:r="http://schemas.openxmlformats.org/officeDocument/2006/relationships" id="277" r:id="R2844e5b4040d4a67"/>
    <p:sldId xmlns:r="http://schemas.openxmlformats.org/officeDocument/2006/relationships" id="278" r:id="R2ee69faa682a4b5d"/>
    <p:sldId xmlns:r="http://schemas.openxmlformats.org/officeDocument/2006/relationships" id="279" r:id="R6cca63157c18447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1c122332f24b75" /><Relationship Type="http://schemas.openxmlformats.org/officeDocument/2006/relationships/slideMaster" Target="/ppt/slideMasters/slideMaster1.xml" Id="R8f091efe65cf4b29" /><Relationship Type="http://schemas.openxmlformats.org/officeDocument/2006/relationships/notesMaster" Target="/ppt/notesMasters/notesMaster1.xml" Id="R32f3be4956aa49d4" /><Relationship Type="http://schemas.openxmlformats.org/officeDocument/2006/relationships/presProps" Target="/ppt/presProps.xml" Id="R859fe956b7ac42f3" /><Relationship Type="http://schemas.openxmlformats.org/officeDocument/2006/relationships/tableStyles" Target="/ppt/tableStyles.xml" Id="R40fc7ee364f847bf" /><Relationship Type="http://schemas.openxmlformats.org/officeDocument/2006/relationships/slide" Target="/ppt/slides/slide1.xml" Id="Ra5965cdcb4c846f1" /><Relationship Type="http://schemas.openxmlformats.org/officeDocument/2006/relationships/slide" Target="/ppt/slides/slide2.xml" Id="R24b40cbda5104d94" /><Relationship Type="http://schemas.openxmlformats.org/officeDocument/2006/relationships/slide" Target="/ppt/slides/slide3.xml" Id="R2112a91c158a4cc9" /><Relationship Type="http://schemas.openxmlformats.org/officeDocument/2006/relationships/slide" Target="/ppt/slides/slide4.xml" Id="R38a6e50002944875" /><Relationship Type="http://schemas.openxmlformats.org/officeDocument/2006/relationships/slide" Target="/ppt/slides/slide5.xml" Id="R3b3c668a9cc145f9" /><Relationship Type="http://schemas.openxmlformats.org/officeDocument/2006/relationships/slide" Target="/ppt/slides/slide6.xml" Id="R63c67a0ca2984c5c" /><Relationship Type="http://schemas.openxmlformats.org/officeDocument/2006/relationships/slide" Target="/ppt/slides/slide7.xml" Id="Rf6bbd34adfef414e" /><Relationship Type="http://schemas.openxmlformats.org/officeDocument/2006/relationships/slide" Target="/ppt/slides/slide8.xml" Id="R7450ad8822e942c8" /><Relationship Type="http://schemas.openxmlformats.org/officeDocument/2006/relationships/slide" Target="/ppt/slides/slide9.xml" Id="R2d1c314070534c07" /><Relationship Type="http://schemas.openxmlformats.org/officeDocument/2006/relationships/slide" Target="/ppt/slides/slide10.xml" Id="R895f70c5da9d492c" /><Relationship Type="http://schemas.openxmlformats.org/officeDocument/2006/relationships/slide" Target="/ppt/slides/slide11.xml" Id="Rea35e508bd4342dc" /><Relationship Type="http://schemas.openxmlformats.org/officeDocument/2006/relationships/slide" Target="/ppt/slides/slide12.xml" Id="R982d0dae05c14d63" /><Relationship Type="http://schemas.openxmlformats.org/officeDocument/2006/relationships/slide" Target="/ppt/slides/slide13.xml" Id="R37528a30701d4b49" /><Relationship Type="http://schemas.openxmlformats.org/officeDocument/2006/relationships/slide" Target="/ppt/slides/slide14.xml" Id="R745f40d0818e4528" /><Relationship Type="http://schemas.openxmlformats.org/officeDocument/2006/relationships/slide" Target="/ppt/slides/slide15.xml" Id="Re9d1da6941b546ac" /><Relationship Type="http://schemas.openxmlformats.org/officeDocument/2006/relationships/slide" Target="/ppt/slides/slide16.xml" Id="R2efc2e6beef64933" /><Relationship Type="http://schemas.openxmlformats.org/officeDocument/2006/relationships/slide" Target="/ppt/slides/slide17.xml" Id="R8a8e7a5e6bc246dc" /><Relationship Type="http://schemas.openxmlformats.org/officeDocument/2006/relationships/slide" Target="/ppt/slides/slide18.xml" Id="Red20df91150d472d" /><Relationship Type="http://schemas.openxmlformats.org/officeDocument/2006/relationships/slide" Target="/ppt/slides/slide19.xml" Id="R18067094c303469c" /><Relationship Type="http://schemas.openxmlformats.org/officeDocument/2006/relationships/slide" Target="/ppt/slides/slide20.xml" Id="R7ff0f8c6b8ce40ae" /><Relationship Type="http://schemas.openxmlformats.org/officeDocument/2006/relationships/slide" Target="/ppt/slides/slide21.xml" Id="R5f327a987cf64610" /><Relationship Type="http://schemas.openxmlformats.org/officeDocument/2006/relationships/slide" Target="/ppt/slides/slide22.xml" Id="R2844e5b4040d4a67" /><Relationship Type="http://schemas.openxmlformats.org/officeDocument/2006/relationships/slide" Target="/ppt/slides/slide23.xml" Id="R2ee69faa682a4b5d" /><Relationship Type="http://schemas.openxmlformats.org/officeDocument/2006/relationships/slide" Target="/ppt/slides/slide24.xml" Id="R6cca63157c18447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8c91745e2845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86f40a022e4c20" /><Relationship Type="http://schemas.openxmlformats.org/officeDocument/2006/relationships/notesMaster" Target="/ppt/notesMasters/notesMaster1.xml" Id="Rdb36ccdc91b542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b2a668130c41f3" /><Relationship Type="http://schemas.openxmlformats.org/officeDocument/2006/relationships/notesMaster" Target="/ppt/notesMasters/notesMaster1.xml" Id="Rd15956e8109e4ee5"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d4c769a5434af2" /><Relationship Type="http://schemas.openxmlformats.org/officeDocument/2006/relationships/notesMaster" Target="/ppt/notesMasters/notesMaster1.xml" Id="Ra93f4b5b51164ac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af89f6c9334f2d" /><Relationship Type="http://schemas.openxmlformats.org/officeDocument/2006/relationships/notesMaster" Target="/ppt/notesMasters/notesMaster1.xml" Id="R7801571d6dd44b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8f993be1834db2" /><Relationship Type="http://schemas.openxmlformats.org/officeDocument/2006/relationships/notesMaster" Target="/ppt/notesMasters/notesMaster1.xml" Id="R3db2ed8d006f4c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f84559fa014277" /><Relationship Type="http://schemas.openxmlformats.org/officeDocument/2006/relationships/notesMaster" Target="/ppt/notesMasters/notesMaster1.xml" Id="R5ce39ade000c47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5be1fb8b8b4e05" /><Relationship Type="http://schemas.openxmlformats.org/officeDocument/2006/relationships/notesMaster" Target="/ppt/notesMasters/notesMaster1.xml" Id="Refb3f14e9a594844"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1a2b981da54ba5" /><Relationship Type="http://schemas.openxmlformats.org/officeDocument/2006/relationships/notesMaster" Target="/ppt/notesMasters/notesMaster1.xml" Id="Re9b546d7c3c04e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9673d6a0dfd54254" /><Relationship Type="http://schemas.openxmlformats.org/officeDocument/2006/relationships/notesMaster" Target="/ppt/notesMasters/notesMaster1.xml" Id="R1a210650a12040c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64956ca1804382" /><Relationship Type="http://schemas.openxmlformats.org/officeDocument/2006/relationships/notesMaster" Target="/ppt/notesMasters/notesMaster1.xml" Id="Rb188e28d0c8a43a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bf6f126e55f430d" /><Relationship Type="http://schemas.openxmlformats.org/officeDocument/2006/relationships/notesMaster" Target="/ppt/notesMasters/notesMaster1.xml" Id="Ra717e3b1417a41e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615e8ca6d5446fb" /><Relationship Type="http://schemas.openxmlformats.org/officeDocument/2006/relationships/notesMaster" Target="/ppt/notesMasters/notesMaster1.xml" Id="R37e769f07a3f4d4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7a73bb129d64647" /><Relationship Type="http://schemas.openxmlformats.org/officeDocument/2006/relationships/notesMaster" Target="/ppt/notesMasters/notesMaster1.xml" Id="R512e1b9c3f894fa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e9aa289107d4d29" /><Relationship Type="http://schemas.openxmlformats.org/officeDocument/2006/relationships/notesMaster" Target="/ppt/notesMasters/notesMaster1.xml" Id="R0970315bbef24dc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a36fabe226a4fc1" /><Relationship Type="http://schemas.openxmlformats.org/officeDocument/2006/relationships/notesMaster" Target="/ppt/notesMasters/notesMaster1.xml" Id="R5e8565435a994d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e6ae992437a4494" /><Relationship Type="http://schemas.openxmlformats.org/officeDocument/2006/relationships/notesMaster" Target="/ppt/notesMasters/notesMaster1.xml" Id="Re452e700bd8843e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8790bc3a6584290" /><Relationship Type="http://schemas.openxmlformats.org/officeDocument/2006/relationships/notesMaster" Target="/ppt/notesMasters/notesMaster1.xml" Id="Rf5e37b112eab42a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cf3bf7522374009" /><Relationship Type="http://schemas.openxmlformats.org/officeDocument/2006/relationships/notesMaster" Target="/ppt/notesMasters/notesMaster1.xml" Id="R8d9113e1fafa42e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5dfbc50f4d54f4d" /><Relationship Type="http://schemas.openxmlformats.org/officeDocument/2006/relationships/notesMaster" Target="/ppt/notesMasters/notesMaster1.xml" Id="Re76cd0e757f7428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89b6152fe244f4f" /><Relationship Type="http://schemas.openxmlformats.org/officeDocument/2006/relationships/notesMaster" Target="/ppt/notesMasters/notesMaster1.xml" Id="Rd31dda4b177543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c0f3eb4cb7d4283" /><Relationship Type="http://schemas.openxmlformats.org/officeDocument/2006/relationships/notesMaster" Target="/ppt/notesMasters/notesMaster1.xml" Id="R2a9ea96d6eb94b6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53ae56aa6324b89" /><Relationship Type="http://schemas.openxmlformats.org/officeDocument/2006/relationships/notesMaster" Target="/ppt/notesMasters/notesMaster1.xml" Id="R4955dabec5a9449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fbf67e0fd8244c4" /><Relationship Type="http://schemas.openxmlformats.org/officeDocument/2006/relationships/notesMaster" Target="/ppt/notesMasters/notesMaster1.xml" Id="Rb00618aa5e8a4f2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0627a7223bd4675" /><Relationship Type="http://schemas.openxmlformats.org/officeDocument/2006/relationships/notesMaster" Target="/ppt/notesMasters/notesMaster1.xml" Id="Rf69621e1f2ac4f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CampusLink as an implemented campus placement prototype. It combines preparation and placement operations. The core matching method uses explicit rules and text relevance. Generative coaching and historical outcome prediction are separate optional components. This technical presentation follows the current repository and the recorded synthetic demonstration, with no claim of public-dataset validation.</a:t>
            </a:r>
          </a:p>
          <a:p xmlns:a="http://schemas.openxmlformats.org/drawingml/2006/main">
            <a:r>
              <a:t/>
            </a:r>
          </a:p>
          <a:p xmlns:a="http://schemas.openxmlformats.org/drawingml/2006/main">
            <a:r>
              <a:t>Sources:</a:t>
            </a:r>
          </a:p>
          <a:p xmlns:a="http://schemas.openxmlformats.org/drawingml/2006/main">
            <a:r>
              <a:t>C:/CampusLink/README.md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addresses fragmented placement information and repeated manual operations. CampusLink integrates the preparation and recruitment journey. The expected time savings and placement improvements remain hypotheses until a real college pilot measures them. Its prototype strength is explainable scoring and connected operations rather than a validated placement probability.</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C:/CampusLink/src/utils/scoring.ts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manage their career profiles, preparation and applications. Recruiters define requirements, review candidates and manage hiring rounds. Campus teams verify records, approve recruiters and drives, and coordinate resources. Administrators manage access, campuses and assessment content. The image is an existing repository dashboard screenshot for interface context, not the synthetic evaluation report.</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C:/CampusLink/src/features/student-dashboard.tsx</a:t>
            </a:r>
          </a:p>
          <a:p xmlns:a="http://schemas.openxmlformats.org/drawingml/2006/main">
            <a:r>
              <a:t>C:/CampusLink/src/features/recruiter-dashboard.tsx</a:t>
            </a:r>
          </a:p>
          <a:p xmlns:a="http://schemas.openxmlformats.org/drawingml/2006/main">
            <a:r>
              <a:t>C:/CampusLink/src/features/campus-dashboard.tsx</a:t>
            </a:r>
          </a:p>
          <a:p xmlns:a="http://schemas.openxmlformats.org/drawingml/2006/main">
            <a:r>
              <a:t>C:/CampusLink/src/features/admin-dashboard.tsx</a:t>
            </a:r>
          </a:p>
          <a:p xmlns:a="http://schemas.openxmlformats.org/drawingml/2006/main">
            <a:r>
              <a:t>C:/CampusLink/output/screenshots/dashboard-preview.jpg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Next.js browser interface sends requests to the frontend origin using /api/v1. Next.js rewrites forward these requests to the Express backend. The backend handles session authentication, CSRF checks, business rules and database transactions. PostgreSQL stores production entities and SQLite supports local development. Documents live in private storage. Background workers process queued email, reminders and cleanup. Optional external AI and speech services operate through the backend with appropriate consent.</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C:/CampusLink/next.config.mjs</a:t>
            </a:r>
          </a:p>
          <a:p xmlns:a="http://schemas.openxmlformats.org/drawingml/2006/main">
            <a:r>
              <a:t>C:/CampusLink/server/app.ts</a:t>
            </a:r>
          </a:p>
          <a:p xmlns:a="http://schemas.openxmlformats.org/drawingml/2006/main">
            <a:r>
              <a:t>C:/CampusLink/server/workspace.ts</a:t>
            </a:r>
          </a:p>
          <a:p xmlns:a="http://schemas.openxmlformats.org/drawingml/2006/main">
            <a:r>
              <a:t>C:/CampusLink/server/db.ts</a:t>
            </a:r>
          </a:p>
          <a:p xmlns:a="http://schemas.openxmlformats.org/drawingml/2006/main">
            <a:r>
              <a:t>C:/CampusLink/server/storage.ts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Relational tables connect accounts to campuses, drives to recruiters, applications to students and recruitment rounds, and offers to applications where available. Foreign keys and uniqueness rules protect these relationships. Flexible attributes remain in JSON-validated payloads alongside important SQL fields. API authorization enforces tenant and owner scope. RLS is enabled without direct client policies, so client users do not access PostgreSQL directly. Private storage, transactional writes and audit history support document and workflow integrity.</a:t>
            </a:r>
          </a:p>
          <a:p xmlns:a="http://schemas.openxmlformats.org/drawingml/2006/main">
            <a:r>
              <a:t/>
            </a:r>
          </a:p>
          <a:p xmlns:a="http://schemas.openxmlformats.org/drawingml/2006/main">
            <a:r>
              <a:t>Sources:</a:t>
            </a:r>
          </a:p>
          <a:p xmlns:a="http://schemas.openxmlformats.org/drawingml/2006/main">
            <a:r>
              <a:t>C:/CampusLink/server/DATABASE.md</a:t>
            </a:r>
          </a:p>
          <a:p xmlns:a="http://schemas.openxmlformats.org/drawingml/2006/main">
            <a:r>
              <a:t>C:/CampusLink/server/schema.ts</a:t>
            </a:r>
          </a:p>
          <a:p xmlns:a="http://schemas.openxmlformats.org/drawingml/2006/main">
            <a:r>
              <a:t>C:/CampusLink/server/auth.ts</a:t>
            </a:r>
          </a:p>
          <a:p xmlns:a="http://schemas.openxmlformats.org/drawingml/2006/main">
            <a:r>
              <a:t>C:/CampusLink/server/workspace.ts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Readiness is a deterministic weighted score with six categories. Verified skills measure the proportion of recorded skills that are verified. Academics use CGPA times ten minus ten per active backlog, bounded to zero through one hundred. Projects use 35 points per recorded project, capped at one hundred. Aptitude, communication and interview categories use mean scores from matching assessment history. Missing evidence contributes zero. The categories indicate recorded preparation evidence and do not measure a validated probability of employment.</a:t>
            </a:r>
          </a:p>
          <a:p xmlns:a="http://schemas.openxmlformats.org/drawingml/2006/main">
            <a:r>
              <a:t/>
            </a:r>
          </a:p>
          <a:p xmlns:a="http://schemas.openxmlformats.org/drawingml/2006/main">
            <a:r>
              <a:t>Sources:</a:t>
            </a:r>
          </a:p>
          <a:p xmlns:a="http://schemas.openxmlformats.org/drawingml/2006/main">
            <a:r>
              <a:t>C:/CampusLink/src/utils/scoring.ts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synthetic selected student has category scores 100, 90, 100, 85, 85 and 85. The weighted total equals 92.75, which rounds to 93. This produces the Highly Employable label. The label belongs to a rule-based readiness rubric, not a placement guarantee. The example confirms arithmetic using the recorded demo values. The weight choices and thresholds have not been validated against real employment outcomes.</a:t>
            </a:r>
          </a:p>
          <a:p xmlns:a="http://schemas.openxmlformats.org/drawingml/2006/main">
            <a:r>
              <a:t/>
            </a:r>
          </a:p>
          <a:p xmlns:a="http://schemas.openxmlformats.org/drawingml/2006/main">
            <a:r>
              <a:t>Sources:</a:t>
            </a:r>
          </a:p>
          <a:p xmlns:a="http://schemas.openxmlformats.org/drawingml/2006/main">
            <a:r>
              <a:t>C:/CampusLink/src/utils/scoring.ts</a:t>
            </a:r>
          </a:p>
          <a:p xmlns:a="http://schemas.openxmlformats.org/drawingml/2006/main">
            <a:r>
              <a:t>C:/CampusLink/output/placement-demo-report.json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mandatory eligibility condition must pass before a candidate receives a nonzero fit or hybrid ranking score. Conditions include campus, course, branch, graduation year, CGPA and active backlogs. Required skills become a hard gate when requireSkills is enabled. Hard skill eligibility checks recorded skill presence, while the fit score distinguishes verified and unverified skills. Free-text additional conditions require an explicit campus verification entry. Students can see reasons for failing eligibility.</a:t>
            </a:r>
          </a:p>
          <a:p xmlns:a="http://schemas.openxmlformats.org/drawingml/2006/main">
            <a:r>
              <a:t/>
            </a:r>
          </a:p>
          <a:p xmlns:a="http://schemas.openxmlformats.org/drawingml/2006/main">
            <a:r>
              <a:t>Sources:</a:t>
            </a:r>
          </a:p>
          <a:p xmlns:a="http://schemas.openxmlformats.org/drawingml/2006/main">
            <a:r>
              <a:t>C:/CampusLink/src/utils/placement.ts</a:t>
            </a:r>
          </a:p>
          <a:p xmlns:a="http://schemas.openxmlformats.org/drawingml/2006/main">
            <a:r>
              <a:t>C:/CampusLink/src/utils/scoring.ts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fit function combines six job-specific evidence factors after eligibility passes. Required skill alignment gives full credit to verified skills and half credit to recorded unverified skills. Preferred alignment measures presence, with required-skill alignment as a fallback when the drive has no preferred skills. Assessment performance averages the recorded history. Project relevance matches required skill words against project names and descriptions. Certifications count recorded certification entries. Academics use bounded CGPA times ten. These are transparent heuristics and their weights are not learned from hiring outcomes.</a:t>
            </a:r>
          </a:p>
          <a:p xmlns:a="http://schemas.openxmlformats.org/drawingml/2006/main">
            <a:r>
              <a:t/>
            </a:r>
          </a:p>
          <a:p xmlns:a="http://schemas.openxmlformats.org/drawingml/2006/main">
            <a:r>
              <a:t>Sources:</a:t>
            </a:r>
          </a:p>
          <a:p xmlns:a="http://schemas.openxmlformats.org/drawingml/2006/main">
            <a:r>
              <a:t>C:/CampusLink/src/utils/scoring.ts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 NLP normalizes aliases from a reviewed skill dictionary, extracts job requirements using regular expressions and computes TF-IDF cosine relevance. Tokens exclude common stop words. TF is term count divided by document token count. Smoothed IDF is log((N+1)/(documentFrequency+1)) + 1, where N includes the query and candidate documents. The job query uses drive skills and description. Candidate text uses recorded skills, projects and project descriptions. TF-IDF measures lexical relevance and does not use semantic embeddings or an LLM. Eligibility gates still apply to the final ranking.</a:t>
            </a:r>
          </a:p>
          <a:p xmlns:a="http://schemas.openxmlformats.org/drawingml/2006/main">
            <a:r>
              <a:t/>
            </a:r>
          </a:p>
          <a:p xmlns:a="http://schemas.openxmlformats.org/drawingml/2006/main">
            <a:r>
              <a:t>Sources:</a:t>
            </a:r>
          </a:p>
          <a:p xmlns:a="http://schemas.openxmlformats.org/drawingml/2006/main">
            <a:r>
              <a:t>C:/CampusLink/server/nlp.ts</a:t>
            </a:r>
          </a:p>
          <a:p xmlns:a="http://schemas.openxmlformats.org/drawingml/2006/main">
            <a:r>
              <a:t>C:/CampusLink/server/services.ts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stored report ranks the strongest specialist first for each drive. Each has hybrid score 74 and readiness 93. The developing specialist has hybrid score 40 and readiness 18. The all-rounder has hybrid score 34 and readiness 18. The low readiness of the latter profiles reflects deliberately missing verified skills, projects and assessment evidence. Readiness and job fit serve different purposes, so their scores are not interchangeable. Expected winners were manually specified in the demo script. These three cases do not establish general ranking quality.</a:t>
            </a:r>
          </a:p>
          <a:p xmlns:a="http://schemas.openxmlformats.org/drawingml/2006/main">
            <a:r>
              <a:t/>
            </a:r>
          </a:p>
          <a:p xmlns:a="http://schemas.openxmlformats.org/drawingml/2006/main">
            <a:r>
              <a:t>Sources:</a:t>
            </a:r>
          </a:p>
          <a:p xmlns:a="http://schemas.openxmlformats.org/drawingml/2006/main">
            <a:r>
              <a:t>C:/CampusLink/scripts/placement-demo.ts</a:t>
            </a:r>
          </a:p>
          <a:p xmlns:a="http://schemas.openxmlformats.org/drawingml/2006/main">
            <a:r>
              <a:t>C:/CampusLink/output/placement-demo-report.json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Scheduling uses availability and overlapping-resource checks rather than a trained optimization model. Drive conflicts cover venue, lab, room, recruiter and cohort constraints. Interview checks include candidate, room and panel overlaps. The workflow requires campus approval, a proposed schedule, recruiter confirmation and activation. Recruiters then record selection results and release offers. The synthetic demonstration includes deferral followed by acceptance, a blocked joining action before document verification, successful verification and joining, and deduplicated reminders. Notifications are stored, while external email needs service credentials.</a:t>
            </a:r>
          </a:p>
          <a:p xmlns:a="http://schemas.openxmlformats.org/drawingml/2006/main">
            <a:r>
              <a:t/>
            </a:r>
          </a:p>
          <a:p xmlns:a="http://schemas.openxmlformats.org/drawingml/2006/main">
            <a:r>
              <a:t>Sources:</a:t>
            </a:r>
          </a:p>
          <a:p xmlns:a="http://schemas.openxmlformats.org/drawingml/2006/main">
            <a:r>
              <a:t>C:/CampusLink/src/services/drive.validation.ts</a:t>
            </a:r>
          </a:p>
          <a:p xmlns:a="http://schemas.openxmlformats.org/drawingml/2006/main">
            <a:r>
              <a:t>C:/CampusLink/server/recruitment.ts</a:t>
            </a:r>
          </a:p>
          <a:p xmlns:a="http://schemas.openxmlformats.org/drawingml/2006/main">
            <a:r>
              <a:t>C:/CampusLink/server/services.ts</a:t>
            </a:r>
          </a:p>
          <a:p xmlns:a="http://schemas.openxmlformats.org/drawingml/2006/main">
            <a:r>
              <a:t>C:/CampusLink/scripts/placement-demo.ts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implements logistic regression with six normalized readiness features plus an intercept. Training requires at least sixty labeled rows across three cohorts. Cohorts sort lexically, and the last cohort becomes the held-out test set, so cohort identifiers need to preserve chronology. Both train and test sets must contain placed and unplaced examples. Batch gradient descent runs 1,800 epochs with learning rate 0.15 and L2 coefficient 0.01 on non-intercept weights. The evaluation threshold is 0.5. Metrics include accuracy, precision, recall and Brier score. The demonstration does not train this model, and the runtime rejects synthetic provenance for live outcome estimates.</a:t>
            </a:r>
          </a:p>
          <a:p xmlns:a="http://schemas.openxmlformats.org/drawingml/2006/main">
            <a:r>
              <a:t/>
            </a:r>
          </a:p>
          <a:p xmlns:a="http://schemas.openxmlformats.org/drawingml/2006/main">
            <a:r>
              <a:t>Sources:</a:t>
            </a:r>
          </a:p>
          <a:p xmlns:a="http://schemas.openxmlformats.org/drawingml/2006/main">
            <a:r>
              <a:t>C:/CampusLink/server/ml.ts</a:t>
            </a:r>
          </a:p>
          <a:p xmlns:a="http://schemas.openxmlformats.org/drawingml/2006/main">
            <a:r>
              <a:t>C:/CampusLink/README.md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fixture contains thirteen synthetic student profiles, twelve in the main college and one in another campus to check isolation. Three job specifications require React and TypeScript, Java and SQL, and Python and SQL. Each main drive expects exactly three eligible candidates: the corresponding strong specialist, the developing specialist and the all-rounder. This yields nine positive labels and thirty negative labels across thirty-nine pairs. Expected labels and top-ranked candidates are manually specified. The fixture checks missing skills, low CGPA, wrong branch or graduation year, backlogs and campus mismatch. The demo uses isolated in-memory SQLite and simulated document records, not uploaded PDF files. No public dataset evaluation appears in the repository evidence.</a:t>
            </a:r>
          </a:p>
          <a:p xmlns:a="http://schemas.openxmlformats.org/drawingml/2006/main">
            <a:r>
              <a:t/>
            </a:r>
          </a:p>
          <a:p xmlns:a="http://schemas.openxmlformats.org/drawingml/2006/main">
            <a:r>
              <a:t>Sources:</a:t>
            </a:r>
          </a:p>
          <a:p xmlns:a="http://schemas.openxmlformats.org/drawingml/2006/main">
            <a:r>
              <a:t>C:/CampusLink/scripts/placement-demo.ts</a:t>
            </a:r>
          </a:p>
          <a:p xmlns:a="http://schemas.openxmlformats.org/drawingml/2006/main">
            <a:r>
              <a:t>C:/CampusLink/output/placement-demo-report.json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stored demo report has correct = 39 and pairs = 39, so eligibility accuracy is one hundred percent. The three expected top candidates also match, giving top-one agreement of three out of three. The script asserts both outcomes. Eligibility classification checks agreement with manually specified rule labels. Ranking accuracy here is agreement with three chosen examples. These values describe a small scripted fixture and cannot support claims about real hiring success, fairness or prediction accuracy. Precision, recall and F1 for a general candidate relevance task have not been evaluated on an independent dataset.</a:t>
            </a:r>
          </a:p>
          <a:p xmlns:a="http://schemas.openxmlformats.org/drawingml/2006/main">
            <a:r>
              <a:t/>
            </a:r>
          </a:p>
          <a:p xmlns:a="http://schemas.openxmlformats.org/drawingml/2006/main">
            <a:r>
              <a:t>Sources:</a:t>
            </a:r>
          </a:p>
          <a:p xmlns:a="http://schemas.openxmlformats.org/drawingml/2006/main">
            <a:r>
              <a:t>C:/CampusLink/scripts/placement-demo.ts</a:t>
            </a:r>
          </a:p>
          <a:p xmlns:a="http://schemas.openxmlformats.org/drawingml/2006/main">
            <a:r>
              <a:t>C:/CampusLink/output/placement-demo-report.json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example confirms the weighted arithmetic, and the fixture exercises evidence-rich versus evidence-poor profiles in matching. It does not provide an independently labeled readiness dataset or expert employability scores. Scoring correctness should be tested with boundary CGPA values, backlogs, missing history, partially verified skills and capped project or certification counts. An external validation study should compare scores with expert rubrics and historical outcomes, check sensitivity to weights and audit subgroup behavior. Those are proposed evaluations, not completed results.</a:t>
            </a:r>
          </a:p>
          <a:p xmlns:a="http://schemas.openxmlformats.org/drawingml/2006/main">
            <a:r>
              <a:t/>
            </a:r>
          </a:p>
          <a:p xmlns:a="http://schemas.openxmlformats.org/drawingml/2006/main">
            <a:r>
              <a:t>Sources:</a:t>
            </a:r>
          </a:p>
          <a:p xmlns:a="http://schemas.openxmlformats.org/drawingml/2006/main">
            <a:r>
              <a:t>C:/CampusLink/src/utils/scoring.ts</a:t>
            </a:r>
          </a:p>
          <a:p xmlns:a="http://schemas.openxmlformats.org/drawingml/2006/main">
            <a:r>
              <a:t>C:/CampusLink/output/placement-demo-report.json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saved report records elapsedMs = 85.58. The timer starts after student setup and wraps the three-drive setup, approvals, scheduling, eligibility, applications and ranking loop. It stops before later interview conflicts, offer responses and joining verification. Thus it is neither a full lifecycle timing nor browser latency. It uses a small in-memory database with no concurrency, and the report includes no hardware or repeated-run distribution. A production benchmark should report median and p95 API latency, throughput, failure rate, ranking time by cohort size and scheduling contention under realistic traffic. Dashboard polling every fifteen seconds adds request volume as the active user count grows.</a:t>
            </a:r>
          </a:p>
          <a:p xmlns:a="http://schemas.openxmlformats.org/drawingml/2006/main">
            <a:r>
              <a:t/>
            </a:r>
          </a:p>
          <a:p xmlns:a="http://schemas.openxmlformats.org/drawingml/2006/main">
            <a:r>
              <a:t>Sources:</a:t>
            </a:r>
          </a:p>
          <a:p xmlns:a="http://schemas.openxmlformats.org/drawingml/2006/main">
            <a:r>
              <a:t>C:/CampusLink/scripts/placement-demo.ts</a:t>
            </a:r>
          </a:p>
          <a:p xmlns:a="http://schemas.openxmlformats.org/drawingml/2006/main">
            <a:r>
              <a:t>C:/CampusLink/output/placement-demo-report.json</a:t>
            </a:r>
          </a:p>
          <a:p xmlns:a="http://schemas.openxmlformats.org/drawingml/2006/main">
            <a:r>
              <a:t>C:/CampusLink/README.md</a:t>
            </a:r>
          </a:p>
          <a:p xmlns:a="http://schemas.openxmlformats.org/drawingml/2006/main">
            <a:r>
              <a:t>C:/CampusLink/src/features/team.tsx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 IDs associate student records with a registered institution. Campus team operations scope records to that institution and recruiters operate within their authorized partnerships and ownership. Candidate eligibility also checks the drive campus. Relational connections protect cross-entity consistency. The demo asserts that the main campus student list contains twelve people and excludes the other-campus student. Recruiter schedule availability needs cross-campus checks, because one recruiter may serve multiple institutions. This is functional isolation evidence rather than a production-scale throughput test.</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C:/CampusLink/server/workspace.ts</a:t>
            </a:r>
          </a:p>
          <a:p xmlns:a="http://schemas.openxmlformats.org/drawingml/2006/main">
            <a:r>
              <a:t>C:/CampusLink/server/DATABASE.md</a:t>
            </a:r>
          </a:p>
          <a:p xmlns:a="http://schemas.openxmlformats.org/drawingml/2006/main">
            <a:r>
              <a:t>C:/CampusLink/scripts/placement-demo.ts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documented starting architecture uses a single authoritative Express backend and PostgreSQL transaction layer. Campus and owner indexes support scoped queries. Aggregate reads batch related rows, and PostgreSQL snapshot reads do not acquire the placement write lock. Private object storage and workers can scale separately. Multiple backend replicas require shared rate-limit state and a durable queue with job claims to avoid duplicate worker processing. Scheduling uses a shared placement lock and may become a contention point. Capacity must be established through load tests before promises about institution count or user throughput. These replica and queue changes describe an expansion plan.</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C:/CampusLink/server/DATABASE.md</a:t>
            </a:r>
          </a:p>
          <a:p xmlns:a="http://schemas.openxmlformats.org/drawingml/2006/main">
            <a:r>
              <a:t>C:/CampusLink/server/db.ts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configuration targets Vercel for Next.js and Render for Express. Browsers call the frontend /api/v1 path, which proxies to the backend origin set by API_INTERNAL_URL. Session cookies therefore remain on the frontend origin. The backend uses hosted PostgreSQL, private Supabase storage and Resend email delivery in production. Optional AI services remain backend integrations. FRONTEND_URL must match the frontend HTTPS origin, and the API must bind to the assigned port on 0.0.0.0. This is a deployment configuration and approach, not evidence of a live production deployment.</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C:/CampusLink/render.yaml</a:t>
            </a:r>
          </a:p>
          <a:p xmlns:a="http://schemas.openxmlformats.org/drawingml/2006/main">
            <a:r>
              <a:t>C:/CampusLink/vercel.json</a:t>
            </a:r>
          </a:p>
          <a:p xmlns:a="http://schemas.openxmlformats.org/drawingml/2006/main">
            <a:r>
              <a:t>C:/CampusLink/next.config.mjs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Node.js 24.x and install the repository dependencies. npm run dev starts the local API and frontend. Production uses npm run build for Next.js and npm run server:build followed by npm run server:start for Express. Database tables and migrations apply at startup. Before the relational cutover, stop old backend instances because the legacy store becomes read-only. Keep provider secrets in backend settings rather than NEXT_PUBLIC variables. Verify health, login, account approval, private uploads and password recovery after deployment. Sleeping hosting processes delay requests and pause email and reminder workers, so production operations need a persistent process.</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C:/CampusLink/render.yaml</a:t>
            </a:r>
          </a:p>
          <a:p xmlns:a="http://schemas.openxmlformats.org/drawingml/2006/main">
            <a:r>
              <a:t>C:/CampusLink/server/DATABASE.md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repository implements the requested core placement capabilities and provides a reproducible synthetic demonstration. It has transparent rule-based readiness and fit scores, text relevance, conflict-aware scheduling, stored notifications and offer controls. The current evidence is strongest for functional workflow behavior and conformance to chosen rules. Before a broader rollout, conduct a real college pilot, benchmark realistic concurrency, validate rubric scores with independent labels and, if using outcome prediction, train and hold out genuine historical cohorts. The proposed sequence limits claims to evidence that each stage produces.</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C:/CampusLink/output/placement-demo-report.json</a:t>
            </a:r>
          </a:p>
          <a:p xmlns:a="http://schemas.openxmlformats.org/drawingml/2006/main">
            <a:r>
              <a:t>C:/CampusLink/server/ml.ts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technical facts and measured values come from the local repository and stored report. The deck does not rely on external market claims or public datasets. Read the cited source files for complete implementation detail. The recorded benchmark is available in output/placement-demo-report.json, and scripts/placement-demo.ts contains the fixture and expected labels. Scoring accuracy beyond rule arithmetic requires independent validation. The optional historical model is not part of the synthetic evaluation.</a:t>
            </a:r>
          </a:p>
          <a:p xmlns:a="http://schemas.openxmlformats.org/drawingml/2006/main">
            <a:r>
              <a:t/>
            </a:r>
          </a:p>
          <a:p xmlns:a="http://schemas.openxmlformats.org/drawingml/2006/main">
            <a:r>
              <a:t>Sources:</a:t>
            </a:r>
          </a:p>
          <a:p xmlns:a="http://schemas.openxmlformats.org/drawingml/2006/main">
            <a:r>
              <a:t>C:/CampusLink/README.md</a:t>
            </a:r>
          </a:p>
          <a:p xmlns:a="http://schemas.openxmlformats.org/drawingml/2006/main">
            <a:r>
              <a:t>C:/CampusLink/server/API.md</a:t>
            </a:r>
          </a:p>
          <a:p xmlns:a="http://schemas.openxmlformats.org/drawingml/2006/main">
            <a:r>
              <a:t>C:/CampusLink/server/DATABASE.md</a:t>
            </a:r>
          </a:p>
          <a:p xmlns:a="http://schemas.openxmlformats.org/drawingml/2006/main">
            <a:r>
              <a:t>C:/CampusLink/src/utils/scoring.ts</a:t>
            </a:r>
          </a:p>
          <a:p xmlns:a="http://schemas.openxmlformats.org/drawingml/2006/main">
            <a:r>
              <a:t>C:/CampusLink/src/utils/placement.ts</a:t>
            </a:r>
          </a:p>
          <a:p xmlns:a="http://schemas.openxmlformats.org/drawingml/2006/main">
            <a:r>
              <a:t>C:/CampusLink/server/nlp.ts</a:t>
            </a:r>
          </a:p>
          <a:p xmlns:a="http://schemas.openxmlformats.org/drawingml/2006/main">
            <a:r>
              <a:t>C:/CampusLink/server/services.ts</a:t>
            </a:r>
          </a:p>
          <a:p xmlns:a="http://schemas.openxmlformats.org/drawingml/2006/main">
            <a:r>
              <a:t>C:/CampusLink/server/ml.ts</a:t>
            </a:r>
          </a:p>
          <a:p xmlns:a="http://schemas.openxmlformats.org/drawingml/2006/main">
            <a:r>
              <a:t>C:/CampusLink/scripts/placement-demo.ts</a:t>
            </a:r>
          </a:p>
          <a:p xmlns:a="http://schemas.openxmlformats.org/drawingml/2006/main">
            <a:r>
              <a:t>C:/CampusLink/output/placement-demo-report.json</a:t>
            </a:r>
          </a:p>
          <a:p xmlns:a="http://schemas.openxmlformats.org/drawingml/2006/main">
            <a:r>
              <a:t>C:/CampusLink/render.yaml</a:t>
            </a:r>
          </a:p>
          <a:p xmlns:a="http://schemas.openxmlformats.org/drawingml/2006/main">
            <a:r>
              <a:t>C:/CampusLink/next.config.mjs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discussion about architecture, scoring transparency, evaluation limits and pilot deployment. The prototype connects preparation with recruitment management. Explain that scores help human decisions and that real-world outcome and scalability claims require further evidence.</a:t>
            </a:r>
          </a:p>
          <a:p xmlns:a="http://schemas.openxmlformats.org/drawingml/2006/main">
            <a:r>
              <a:t/>
            </a:r>
          </a:p>
          <a:p xmlns:a="http://schemas.openxmlformats.org/drawingml/2006/main">
            <a:r>
              <a:t>Sources:</a:t>
            </a:r>
          </a:p>
          <a:p xmlns:a="http://schemas.openxmlformats.org/drawingml/2006/main">
            <a:r>
              <a:t>C:/CampusLink/README.md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5c7b1a98a004a5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57a7c5913bb4ac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b4938506374c1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3486a0c5dc049c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eb85f4d15844e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02f80c94a9c49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D8C00C-4805-422D-9C21-B82A6B6C5E2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BE33ED4-6784-4397-81DC-C89ED064D56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971FF3B-6966-413D-A874-834BF7E599F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553031-D854-4792-85FE-39429C21B98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5AF8D4-8437-47B5-BF2A-82DC4241EC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3AAE6A-916E-4DDF-BF3D-E9E99643B6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8516F8-ADE7-48D4-B654-C0C1CF4B702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3C2327-1BA4-4F05-833D-2A4C2BBE637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658212-1BC2-4A8D-B4F3-71B09998377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1862D37-C721-424F-809E-DBB49CDE81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b3af230aae45a9" /><Relationship Type="http://schemas.openxmlformats.org/officeDocument/2006/relationships/slideLayout" Target="/ppt/slideLayouts/slideLayout1.xml" Id="R2992535b0e6b45f5" /><Relationship Type="http://schemas.openxmlformats.org/officeDocument/2006/relationships/slideLayout" Target="/ppt/slideLayouts/slideLayout2.xml" Id="R1b026edfb58b4992" /><Relationship Type="http://schemas.openxmlformats.org/officeDocument/2006/relationships/slideLayout" Target="/ppt/slideLayouts/slideLayout3.xml" Id="R4ab686bd91e64471" /><Relationship Type="http://schemas.openxmlformats.org/officeDocument/2006/relationships/slideLayout" Target="/ppt/slideLayouts/slideLayout4.xml" Id="Rbb9595c34dde4189" /><Relationship Type="http://schemas.openxmlformats.org/officeDocument/2006/relationships/slideLayout" Target="/ppt/slideLayouts/slideLayout5.xml" Id="R21680a87d419468a" /><Relationship Type="http://schemas.openxmlformats.org/officeDocument/2006/relationships/slideLayout" Target="/ppt/slideLayouts/slideLayout6.xml" Id="R98f8c3cbbb27401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992535b0e6b45f5"/>
    <p:sldLayoutId xmlns:r="http://schemas.openxmlformats.org/officeDocument/2006/relationships" id="2147483650" r:id="R1b026edfb58b4992"/>
    <p:sldLayoutId xmlns:r="http://schemas.openxmlformats.org/officeDocument/2006/relationships" id="2147483651" r:id="R4ab686bd91e64471"/>
    <p:sldLayoutId xmlns:r="http://schemas.openxmlformats.org/officeDocument/2006/relationships" id="2147483652" r:id="Rbb9595c34dde4189"/>
    <p:sldLayoutId xmlns:r="http://schemas.openxmlformats.org/officeDocument/2006/relationships" id="2147483653" r:id="R21680a87d419468a"/>
    <p:sldLayoutId xmlns:r="http://schemas.openxmlformats.org/officeDocument/2006/relationships" id="2147483654" r:id="R98f8c3cbbb27401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fbdebc534714fef" /><Relationship Type="http://schemas.openxmlformats.org/officeDocument/2006/relationships/notesSlide" Target="/ppt/notesSlides/notesSlide1.xml" Id="Rb5e0f5729585435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70a3052f9cf4d10" /><Relationship Type="http://schemas.openxmlformats.org/officeDocument/2006/relationships/notesSlide" Target="/ppt/notesSlides/notesSlide2.xml" Id="R409580551f044d9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7f302b350f4203" /><Relationship Type="http://schemas.openxmlformats.org/officeDocument/2006/relationships/image" Target="/ppt/media/image.jpeg" Id="R059b8d2a237140c2" /><Relationship Type="http://schemas.openxmlformats.org/officeDocument/2006/relationships/notesSlide" Target="/ppt/notesSlides/notesSlide3.xml" Id="R1649d0b282324d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25057f608184669" /><Relationship Type="http://schemas.openxmlformats.org/officeDocument/2006/relationships/notesSlide" Target="/ppt/notesSlides/notesSlide4.xml" Id="R06ff7dc4d22044c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411004e37df469b" /><Relationship Type="http://schemas.openxmlformats.org/officeDocument/2006/relationships/notesSlide" Target="/ppt/notesSlides/notesSlide5.xml" Id="R8a04f0e0fea749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0918e91c2224eb1" /><Relationship Type="http://schemas.openxmlformats.org/officeDocument/2006/relationships/notesSlide" Target="/ppt/notesSlides/notesSlide6.xml" Id="R7058b77241be443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3c1d42d18e9448d" /><Relationship Type="http://schemas.openxmlformats.org/officeDocument/2006/relationships/notesSlide" Target="/ppt/notesSlides/notesSlide7.xml" Id="R6b8f555b45c04ae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521fd3bb6964be1" /><Relationship Type="http://schemas.openxmlformats.org/officeDocument/2006/relationships/notesSlide" Target="/ppt/notesSlides/notesSlide8.xml" Id="Ra66cc3eca4ac4f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60e66ee66f47dc" /><Relationship Type="http://schemas.openxmlformats.org/officeDocument/2006/relationships/notesSlide" Target="/ppt/notesSlides/notesSlide9.xml" Id="R62649d6c22864b2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52dcf8ded14b7d" /><Relationship Type="http://schemas.openxmlformats.org/officeDocument/2006/relationships/notesSlide" Target="/ppt/notesSlides/notesSlide10.xml" Id="Rde7103ab092f464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cabb19acdde4825" /><Relationship Type="http://schemas.openxmlformats.org/officeDocument/2006/relationships/notesSlide" Target="/ppt/notesSlides/notesSlide11.xml" Id="R1cf997dbfbe1499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c3bbd35381c4ce3" /><Relationship Type="http://schemas.openxmlformats.org/officeDocument/2006/relationships/notesSlide" Target="/ppt/notesSlides/notesSlide12.xml" Id="Re78afdd07b8b449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e390b3b43114212" /><Relationship Type="http://schemas.openxmlformats.org/officeDocument/2006/relationships/notesSlide" Target="/ppt/notesSlides/notesSlide13.xml" Id="Ree9480c81be1474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4a5f95116704ac7" /><Relationship Type="http://schemas.openxmlformats.org/officeDocument/2006/relationships/notesSlide" Target="/ppt/notesSlides/notesSlide14.xml" Id="R002fb2b285b9490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0eefa24dcf2340cb" /><Relationship Type="http://schemas.openxmlformats.org/officeDocument/2006/relationships/notesSlide" Target="/ppt/notesSlides/notesSlide15.xml" Id="R3d0613af0e7c420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a99b4f90ad4b402d" /><Relationship Type="http://schemas.openxmlformats.org/officeDocument/2006/relationships/notesSlide" Target="/ppt/notesSlides/notesSlide16.xml" Id="Rcb789f8f56d047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67d129d7e2f4845" /><Relationship Type="http://schemas.openxmlformats.org/officeDocument/2006/relationships/notesSlide" Target="/ppt/notesSlides/notesSlide17.xml" Id="R287b87e224c8417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6ffe76509bd4cbb" /><Relationship Type="http://schemas.openxmlformats.org/officeDocument/2006/relationships/notesSlide" Target="/ppt/notesSlides/notesSlide18.xml" Id="Rf8072d7c20ab494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5130868b19141b7" /><Relationship Type="http://schemas.openxmlformats.org/officeDocument/2006/relationships/notesSlide" Target="/ppt/notesSlides/notesSlide19.xml" Id="R210a324b097e4eb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11979eabf7e44910" /><Relationship Type="http://schemas.openxmlformats.org/officeDocument/2006/relationships/notesSlide" Target="/ppt/notesSlides/notesSlide20.xml" Id="R60dd02fc04a745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aa245f887dd4e03" /><Relationship Type="http://schemas.openxmlformats.org/officeDocument/2006/relationships/notesSlide" Target="/ppt/notesSlides/notesSlide21.xml" Id="Re39686e14dee4d5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94f4e0265ef47c4" /><Relationship Type="http://schemas.openxmlformats.org/officeDocument/2006/relationships/notesSlide" Target="/ppt/notesSlides/notesSlide22.xml" Id="Rba379aad2da44ca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081a5c85d82a4f89" /><Relationship Type="http://schemas.openxmlformats.org/officeDocument/2006/relationships/notesSlide" Target="/ppt/notesSlides/notesSlide23.xml" Id="R65c8c894b0a7465d"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3702fcf20cc4005" /><Relationship Type="http://schemas.openxmlformats.org/officeDocument/2006/relationships/notesSlide" Target="/ppt/notesSlides/notesSlide24.xml" Id="Ra92074e772fe4d9b" /></Relationships>
</file>

<file path=ppt/slides/slide1.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8" name="CAMPUSLINK">
            <a:extLst xmlns:a="http://schemas.openxmlformats.org/drawingml/2006/main">
              <a:ext uri="{FF2B5EF4-FFF2-40B4-BE49-F238E27FC236}">
                <a16:creationId xmlns:a16="http://schemas.microsoft.com/office/drawing/2014/main" id="{5DE7308F-6B49-4B19-A7C7-2045964041DE}"/>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CAMPUSLINK">
            <a:extLst xmlns:a="http://schemas.openxmlformats.org/drawingml/2006/main">
              <a:ext uri="{FF2B5EF4-FFF2-40B4-BE49-F238E27FC236}">
                <a16:creationId xmlns:a16="http://schemas.microsoft.com/office/drawing/2014/main" id="{E844310E-D3EC-4154-9B12-EB39E29E3F87}"/>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CAMPUSLINK</a:t>
            </a:r>
          </a:p>
        </p:txBody>
      </p:sp>
      <p:sp>
        <p:nvSpPr>
          <p:cNvPr id="3" name="StartX / BPUT Hackathon 2026 / PS10">
            <a:extLst xmlns:a="http://schemas.openxmlformats.org/drawingml/2006/main">
              <a:ext uri="{FF2B5EF4-FFF2-40B4-BE49-F238E27FC236}">
                <a16:creationId xmlns:a16="http://schemas.microsoft.com/office/drawing/2014/main" id="{D42A92A7-5FDF-43ED-AB34-C6E6A33AD9C4}"/>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1">
            <a:extLst xmlns:a="http://schemas.openxmlformats.org/drawingml/2006/main">
              <a:ext uri="{FF2B5EF4-FFF2-40B4-BE49-F238E27FC236}">
                <a16:creationId xmlns:a16="http://schemas.microsoft.com/office/drawing/2014/main" id="{9C6EA96E-B0DD-4009-AD0E-5AF6862CB2A9}"/>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01</a:t>
            </a:r>
          </a:p>
        </p:txBody>
      </p:sp>
      <p:sp>
        <p:nvSpPr>
          <p:cNvPr id="5" name="Technical Documentation">
            <a:extLst xmlns:a="http://schemas.openxmlformats.org/drawingml/2006/main">
              <a:ext uri="{FF2B5EF4-FFF2-40B4-BE49-F238E27FC236}">
                <a16:creationId xmlns:a16="http://schemas.microsoft.com/office/drawing/2014/main" id="{BFC4BA02-71AD-42F9-80B4-1FF47430D9AC}"/>
              </a:ext>
            </a:extLst>
          </p:cNvPr>
          <p:cNvSpPr>
            <a:spLocks xmlns:a="http://schemas.openxmlformats.org/drawingml/2006/main" noGrp="1"/>
          </p:cNvSpPr>
          <p:nvPr/>
        </p:nvSpPr>
        <p:spPr>
          <a:xfrm xmlns:a="http://schemas.openxmlformats.org/drawingml/2006/main">
            <a:off x="666750" y="2457450"/>
            <a:ext cx="10668000" cy="78105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3600" b="1">
                <a:solidFill>
                  <a:srgbClr val="3C3E60"/>
                </a:solidFill>
                <a:latin typeface="Arial"/>
                <a:ea typeface="Arial"/>
                <a:cs typeface="Arial"/>
              </a:defRPr>
            </a:defPPr>
          </a:lstStyle>
          <a:p xmlns:a="http://schemas.openxmlformats.org/drawingml/2006/main">
            <a:pPr>
              <a:defRPr sz="3600" b="1">
                <a:solidFill>
                  <a:srgbClr val="3C3E60"/>
                </a:solidFill>
                <a:latin typeface="Arial"/>
                <a:ea typeface="Arial"/>
                <a:cs typeface="Arial"/>
              </a:defRPr>
            </a:pPr>
            <a:r>
              <a:rPr sz="3600" b="1">
                <a:solidFill>
                  <a:srgbClr val="3C3E60"/>
                </a:solidFill>
                <a:latin typeface="Arial"/>
                <a:ea typeface="Arial"/>
                <a:cs typeface="Arial"/>
              </a:rPr>
              <a:t>Technical Documentation</a:t>
            </a:r>
          </a:p>
        </p:txBody>
      </p:sp>
      <p:sp>
        <p:nvSpPr>
          <p:cNvPr id="6" name="System architecture, algorithms, evaluation&#10;a">
            <a:extLst xmlns:a="http://schemas.openxmlformats.org/drawingml/2006/main">
              <a:ext uri="{FF2B5EF4-FFF2-40B4-BE49-F238E27FC236}">
                <a16:creationId xmlns:a16="http://schemas.microsoft.com/office/drawing/2014/main" id="{F0F5C41F-60F9-4E7A-9C11-D05EBC3AC30E}"/>
              </a:ext>
            </a:extLst>
          </p:cNvPr>
          <p:cNvSpPr>
            <a:spLocks xmlns:a="http://schemas.openxmlformats.org/drawingml/2006/main" noGrp="1"/>
          </p:cNvSpPr>
          <p:nvPr/>
        </p:nvSpPr>
        <p:spPr>
          <a:xfrm xmlns:a="http://schemas.openxmlformats.org/drawingml/2006/main">
            <a:off x="666750" y="36195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0">
                <a:solidFill>
                  <a:srgbClr val="252527"/>
                </a:solidFill>
                <a:latin typeface="Arial"/>
                <a:ea typeface="Arial"/>
                <a:cs typeface="Arial"/>
              </a:defRPr>
            </a:defPPr>
          </a:lstStyle>
          <a:p xmlns:a="http://schemas.openxmlformats.org/drawingml/2006/main">
            <a:pPr>
              <a:defRPr sz="2550" b="0">
                <a:solidFill>
                  <a:srgbClr val="252527"/>
                </a:solidFill>
                <a:latin typeface="Arial"/>
                <a:ea typeface="Arial"/>
                <a:cs typeface="Arial"/>
              </a:defRPr>
            </a:pPr>
            <a:r>
              <a:rPr sz="2550" b="0">
                <a:solidFill>
                  <a:srgbClr val="252527"/>
                </a:solidFill>
                <a:latin typeface="Arial"/>
                <a:ea typeface="Arial"/>
                <a:cs typeface="Arial"/>
              </a:rPr>
              <a:t>System architecture, algorithms, evaluation</a:t>
            </a:r>
          </a:p>
          <a:p xmlns:a="http://schemas.openxmlformats.org/drawingml/2006/main">
            <a:pPr>
              <a:defRPr sz="2550" b="0">
                <a:solidFill>
                  <a:srgbClr val="252527"/>
                </a:solidFill>
                <a:latin typeface="Arial"/>
                <a:ea typeface="Arial"/>
                <a:cs typeface="Arial"/>
              </a:defRPr>
            </a:pPr>
            <a:r>
              <a:rPr sz="2550" b="0">
                <a:solidFill>
                  <a:srgbClr val="252527"/>
                </a:solidFill>
                <a:latin typeface="Arial"/>
                <a:ea typeface="Arial"/>
                <a:cs typeface="Arial"/>
              </a:rPr>
              <a:t>and multi-campus deployment</a:t>
            </a:r>
          </a:p>
        </p:txBody>
      </p:sp>
      <p:sp>
        <p:nvSpPr>
          <p:cNvPr id="7" name="Team StartX&#10;Problem Statement PS10">
            <a:extLst xmlns:a="http://schemas.openxmlformats.org/drawingml/2006/main">
              <a:ext uri="{FF2B5EF4-FFF2-40B4-BE49-F238E27FC236}">
                <a16:creationId xmlns:a16="http://schemas.microsoft.com/office/drawing/2014/main" id="{D83AFAA4-A446-4ED4-8468-858B04D7BCE7}"/>
              </a:ext>
            </a:extLst>
          </p:cNvPr>
          <p:cNvSpPr>
            <a:spLocks xmlns:a="http://schemas.openxmlformats.org/drawingml/2006/main" noGrp="1"/>
          </p:cNvSpPr>
          <p:nvPr/>
        </p:nvSpPr>
        <p:spPr>
          <a:xfrm xmlns:a="http://schemas.openxmlformats.org/drawingml/2006/main">
            <a:off x="666750" y="521970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1">
                <a:solidFill>
                  <a:srgbClr val="3C3E60"/>
                </a:solidFill>
                <a:latin typeface="Arial"/>
                <a:ea typeface="Arial"/>
                <a:cs typeface="Arial"/>
              </a:defRPr>
            </a:defPPr>
          </a:lstStyle>
          <a:p xmlns:a="http://schemas.openxmlformats.org/drawingml/2006/main">
            <a:pPr>
              <a:defRPr sz="1950" b="1">
                <a:solidFill>
                  <a:srgbClr val="3C3E60"/>
                </a:solidFill>
                <a:latin typeface="Arial"/>
                <a:ea typeface="Arial"/>
                <a:cs typeface="Arial"/>
              </a:defRPr>
            </a:pPr>
            <a:r>
              <a:rPr sz="1950" b="1">
                <a:solidFill>
                  <a:srgbClr val="3C3E60"/>
                </a:solidFill>
                <a:latin typeface="Arial"/>
                <a:ea typeface="Arial"/>
                <a:cs typeface="Arial"/>
              </a:rPr>
              <a:t>Team StartX</a:t>
            </a:r>
          </a:p>
          <a:p xmlns:a="http://schemas.openxmlformats.org/drawingml/2006/main">
            <a:pPr>
              <a:defRPr sz="1950" b="1">
                <a:solidFill>
                  <a:srgbClr val="3C3E60"/>
                </a:solidFill>
                <a:latin typeface="Arial"/>
                <a:ea typeface="Arial"/>
                <a:cs typeface="Arial"/>
              </a:defRPr>
            </a:pPr>
            <a:r>
              <a:rPr sz="1950" b="1">
                <a:solidFill>
                  <a:srgbClr val="3C3E60"/>
                </a:solidFill>
                <a:latin typeface="Arial"/>
                <a:ea typeface="Arial"/>
                <a:cs typeface="Arial"/>
              </a:rPr>
              <a:t>Problem Statement PS10</a:t>
            </a:r>
          </a:p>
        </p:txBody>
      </p:sp>
    </p:spTree>
    <p:extLst>
      <p:ext uri="{BB962C8B-B14F-4D97-AF65-F5344CB8AC3E}">
        <p14:creationId xmlns:p14="http://schemas.microsoft.com/office/powerpoint/2010/main" val="783618760"/>
      </p:ext>
    </p:extLst>
  </p:cSld>
</p:sld>
</file>

<file path=ppt/slides/slide2.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0" name="CAMPUSLINK">
            <a:extLst xmlns:a="http://schemas.openxmlformats.org/drawingml/2006/main">
              <a:ext uri="{FF2B5EF4-FFF2-40B4-BE49-F238E27FC236}">
                <a16:creationId xmlns:a16="http://schemas.microsoft.com/office/drawing/2014/main" id="{298F46F2-766F-4802-9D39-692110F227BB}"/>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Problem and solution">
            <a:extLst xmlns:a="http://schemas.openxmlformats.org/drawingml/2006/main">
              <a:ext uri="{FF2B5EF4-FFF2-40B4-BE49-F238E27FC236}">
                <a16:creationId xmlns:a16="http://schemas.microsoft.com/office/drawing/2014/main" id="{14226E15-EC73-4C36-8FC3-378C974C5721}"/>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Problem and solution</a:t>
            </a:r>
          </a:p>
        </p:txBody>
      </p:sp>
      <p:sp>
        <p:nvSpPr>
          <p:cNvPr id="3" name="StartX / BPUT Hackathon 2026 / PS10">
            <a:extLst xmlns:a="http://schemas.openxmlformats.org/drawingml/2006/main">
              <a:ext uri="{FF2B5EF4-FFF2-40B4-BE49-F238E27FC236}">
                <a16:creationId xmlns:a16="http://schemas.microsoft.com/office/drawing/2014/main" id="{13AFB06E-9E9C-4020-866C-D1FC9F1EE3F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2">
            <a:extLst xmlns:a="http://schemas.openxmlformats.org/drawingml/2006/main">
              <a:ext uri="{FF2B5EF4-FFF2-40B4-BE49-F238E27FC236}">
                <a16:creationId xmlns:a16="http://schemas.microsoft.com/office/drawing/2014/main" id="{4180DE55-B626-4349-9104-53242382F184}"/>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02</a:t>
            </a:r>
          </a:p>
        </p:txBody>
      </p:sp>
      <p:sp>
        <p:nvSpPr>
          <p:cNvPr id="5" name="Problem">
            <a:extLst xmlns:a="http://schemas.openxmlformats.org/drawingml/2006/main">
              <a:ext uri="{FF2B5EF4-FFF2-40B4-BE49-F238E27FC236}">
                <a16:creationId xmlns:a16="http://schemas.microsoft.com/office/drawing/2014/main" id="{3C425395-BC63-4358-966B-C54EEC0D7620}"/>
              </a:ext>
            </a:extLst>
          </p:cNvPr>
          <p:cNvSpPr>
            <a:spLocks xmlns:a="http://schemas.openxmlformats.org/drawingml/2006/main" noGrp="1"/>
          </p:cNvSpPr>
          <p:nvPr/>
        </p:nvSpPr>
        <p:spPr>
          <a:xfrm xmlns:a="http://schemas.openxmlformats.org/drawingml/2006/main">
            <a:off x="666750" y="2019300"/>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Problem</a:t>
            </a:r>
          </a:p>
        </p:txBody>
      </p:sp>
      <p:sp>
        <p:nvSpPr>
          <p:cNvPr id="6" name="Our solution">
            <a:extLst xmlns:a="http://schemas.openxmlformats.org/drawingml/2006/main">
              <a:ext uri="{FF2B5EF4-FFF2-40B4-BE49-F238E27FC236}">
                <a16:creationId xmlns:a16="http://schemas.microsoft.com/office/drawing/2014/main" id="{EB0FE67F-3276-4AAB-A161-7E77D23D2128}"/>
              </a:ext>
            </a:extLst>
          </p:cNvPr>
          <p:cNvSpPr>
            <a:spLocks xmlns:a="http://schemas.openxmlformats.org/drawingml/2006/main" noGrp="1"/>
          </p:cNvSpPr>
          <p:nvPr/>
        </p:nvSpPr>
        <p:spPr>
          <a:xfrm xmlns:a="http://schemas.openxmlformats.org/drawingml/2006/main">
            <a:off x="6286500" y="2019300"/>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Our solution</a:t>
            </a:r>
          </a:p>
        </p:txBody>
      </p:sp>
      <p:sp>
        <p:nvSpPr>
          <p:cNvPr id="7" name="">
            <a:extLst xmlns:a="http://schemas.openxmlformats.org/drawingml/2006/main">
              <a:ext uri="{FF2B5EF4-FFF2-40B4-BE49-F238E27FC236}">
                <a16:creationId xmlns:a16="http://schemas.microsoft.com/office/drawing/2014/main" id="{A0E666EE-9B5F-4331-ABBA-CF14FEFBCEF3}"/>
              </a:ext>
            </a:extLst>
          </p:cNvPr>
          <p:cNvSpPr>
            <a:spLocks xmlns:a="http://schemas.openxmlformats.org/drawingml/2006/main" noGrp="1"/>
          </p:cNvSpPr>
          <p:nvPr/>
        </p:nvSpPr>
        <p:spPr>
          <a:xfrm xmlns:a="http://schemas.openxmlformats.org/drawingml/2006/main">
            <a:off x="666750" y="2714625"/>
            <a:ext cx="504825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Scattered student records and placement updates</a:t>
            </a:r>
          </a:p>
          <a:p xmlns:a="http://schemas.openxmlformats.org/drawingml/2006/main">
            <a:pPr marL="254000" indent="-127000">
              <a:spcAft>
                <a:spcPts val="1700"/>
              </a:spcAft>
              <a:buChar char="•"/>
              <a:defRPr sz="2100" b="0">
                <a:solidFill>
                  <a:srgbClr val="252527"/>
                </a:solidFill>
                <a:latin typeface="Arial"/>
                <a:ea typeface="Arial"/>
                <a:cs typeface="Arial"/>
              </a:defRPr>
            </a:pPr>
            <a:r>
              <a:t>Repeated eligibility checks and shortlisting</a:t>
            </a:r>
          </a:p>
          <a:p xmlns:a="http://schemas.openxmlformats.org/drawingml/2006/main">
            <a:pPr marL="254000" indent="-127000">
              <a:spcAft>
                <a:spcPts val="1700"/>
              </a:spcAft>
              <a:buChar char="•"/>
              <a:defRPr sz="2100" b="0">
                <a:solidFill>
                  <a:srgbClr val="252527"/>
                </a:solidFill>
                <a:latin typeface="Arial"/>
                <a:ea typeface="Arial"/>
                <a:cs typeface="Arial"/>
              </a:defRPr>
            </a:pPr>
            <a:r>
              <a:t>Scheduling conflicts and offer tracking gaps</a:t>
            </a:r>
          </a:p>
        </p:txBody>
      </p:sp>
      <p:sp>
        <p:nvSpPr>
          <p:cNvPr id="8" name="">
            <a:extLst xmlns:a="http://schemas.openxmlformats.org/drawingml/2006/main">
              <a:ext uri="{FF2B5EF4-FFF2-40B4-BE49-F238E27FC236}">
                <a16:creationId xmlns:a16="http://schemas.microsoft.com/office/drawing/2014/main" id="{C3015CD1-8035-4F63-9E8F-AE1888469532}"/>
              </a:ext>
            </a:extLst>
          </p:cNvPr>
          <p:cNvSpPr>
            <a:spLocks xmlns:a="http://schemas.openxmlformats.org/drawingml/2006/main" noGrp="1"/>
          </p:cNvSpPr>
          <p:nvPr/>
        </p:nvSpPr>
        <p:spPr>
          <a:xfrm xmlns:a="http://schemas.openxmlformats.org/drawingml/2006/main">
            <a:off x="6286500" y="2714625"/>
            <a:ext cx="5143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Centralized role-based placement workspace</a:t>
            </a:r>
          </a:p>
          <a:p xmlns:a="http://schemas.openxmlformats.org/drawingml/2006/main">
            <a:pPr marL="254000" indent="-127000">
              <a:spcAft>
                <a:spcPts val="1700"/>
              </a:spcAft>
              <a:buChar char="•"/>
              <a:defRPr sz="2100" b="0">
                <a:solidFill>
                  <a:srgbClr val="252527"/>
                </a:solidFill>
                <a:latin typeface="Arial"/>
                <a:ea typeface="Arial"/>
                <a:cs typeface="Arial"/>
              </a:defRPr>
            </a:pPr>
            <a:r>
              <a:t>Readiness scores and explainable matching</a:t>
            </a:r>
          </a:p>
          <a:p xmlns:a="http://schemas.openxmlformats.org/drawingml/2006/main">
            <a:pPr marL="254000" indent="-127000">
              <a:spcAft>
                <a:spcPts val="1700"/>
              </a:spcAft>
              <a:buChar char="•"/>
              <a:defRPr sz="2100" b="0">
                <a:solidFill>
                  <a:srgbClr val="252527"/>
                </a:solidFill>
                <a:latin typeface="Arial"/>
                <a:ea typeface="Arial"/>
                <a:cs typeface="Arial"/>
              </a:defRPr>
            </a:pPr>
            <a:r>
              <a:t>Scheduling, notifications and offer tracking</a:t>
            </a:r>
          </a:p>
        </p:txBody>
      </p:sp>
      <p:sp>
        <p:nvSpPr>
          <p:cNvPr id="9" name="Why it matters: preparation gaps and coordina">
            <a:extLst xmlns:a="http://schemas.openxmlformats.org/drawingml/2006/main">
              <a:ext uri="{FF2B5EF4-FFF2-40B4-BE49-F238E27FC236}">
                <a16:creationId xmlns:a16="http://schemas.microsoft.com/office/drawing/2014/main" id="{CE54DD68-1256-4154-959C-951026CBAABD}"/>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Why it matters: preparation gaps and coordination delays affect the whole placement cycle.</a:t>
            </a:r>
          </a:p>
        </p:txBody>
      </p:sp>
    </p:spTree>
    <p:extLst>
      <p:ext uri="{BB962C8B-B14F-4D97-AF65-F5344CB8AC3E}">
        <p14:creationId xmlns:p14="http://schemas.microsoft.com/office/powerpoint/2010/main" val="1515777189"/>
      </p:ext>
    </p:extLst>
  </p:cSld>
</p:sld>
</file>

<file path=ppt/slides/slide3.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8" name="CAMPUSLINK">
            <a:extLst xmlns:a="http://schemas.openxmlformats.org/drawingml/2006/main">
              <a:ext uri="{FF2B5EF4-FFF2-40B4-BE49-F238E27FC236}">
                <a16:creationId xmlns:a16="http://schemas.microsoft.com/office/drawing/2014/main" id="{B42AB566-6055-4F21-B21D-3E2E00EDA80A}"/>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Roles and prototype scope">
            <a:extLst xmlns:a="http://schemas.openxmlformats.org/drawingml/2006/main">
              <a:ext uri="{FF2B5EF4-FFF2-40B4-BE49-F238E27FC236}">
                <a16:creationId xmlns:a16="http://schemas.microsoft.com/office/drawing/2014/main" id="{5E724A82-5D52-4ABE-9021-650C2F82289A}"/>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Roles and prototype scope</a:t>
            </a:r>
          </a:p>
        </p:txBody>
      </p:sp>
      <p:sp>
        <p:nvSpPr>
          <p:cNvPr id="3" name="StartX / BPUT Hackathon 2026 / PS10">
            <a:extLst xmlns:a="http://schemas.openxmlformats.org/drawingml/2006/main">
              <a:ext uri="{FF2B5EF4-FFF2-40B4-BE49-F238E27FC236}">
                <a16:creationId xmlns:a16="http://schemas.microsoft.com/office/drawing/2014/main" id="{6A768780-4356-499A-A9DA-E9F7D0DB688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3">
            <a:extLst xmlns:a="http://schemas.openxmlformats.org/drawingml/2006/main">
              <a:ext uri="{FF2B5EF4-FFF2-40B4-BE49-F238E27FC236}">
                <a16:creationId xmlns:a16="http://schemas.microsoft.com/office/drawing/2014/main" id="{FCC3D8ED-90E1-45D4-B04E-8DDDF2C19E62}"/>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CF93F00E-1052-41C5-BCAD-AE665B4FB40D}"/>
              </a:ext>
            </a:extLst>
          </p:cNvPr>
          <p:cNvSpPr>
            <a:spLocks xmlns:a="http://schemas.openxmlformats.org/drawingml/2006/main" noGrp="1"/>
          </p:cNvSpPr>
          <p:nvPr/>
        </p:nvSpPr>
        <p:spPr>
          <a:xfrm xmlns:a="http://schemas.openxmlformats.org/drawingml/2006/main">
            <a:off x="666750" y="2095500"/>
            <a:ext cx="4857750" cy="3667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52527"/>
                </a:solidFill>
                <a:latin typeface="Arial"/>
                <a:ea typeface="Arial"/>
                <a:cs typeface="Arial"/>
              </a:defRPr>
            </a:defPPr>
          </a:lstStyle>
          <a:p xmlns:a="http://schemas.openxmlformats.org/drawingml/2006/main">
            <a:pPr marL="254000" indent="-127000">
              <a:spcAft>
                <a:spcPts val="1700"/>
              </a:spcAft>
              <a:buChar char="•"/>
              <a:defRPr sz="1950" b="0">
                <a:solidFill>
                  <a:srgbClr val="252527"/>
                </a:solidFill>
                <a:latin typeface="Arial"/>
                <a:ea typeface="Arial"/>
                <a:cs typeface="Arial"/>
              </a:defRPr>
            </a:pPr>
            <a:r>
              <a:t>Students: profile, practice and application progress</a:t>
            </a:r>
          </a:p>
          <a:p xmlns:a="http://schemas.openxmlformats.org/drawingml/2006/main">
            <a:pPr marL="254000" indent="-127000">
              <a:spcAft>
                <a:spcPts val="1700"/>
              </a:spcAft>
              <a:buChar char="•"/>
              <a:defRPr sz="1950" b="0">
                <a:solidFill>
                  <a:srgbClr val="252527"/>
                </a:solidFill>
                <a:latin typeface="Arial"/>
                <a:ea typeface="Arial"/>
                <a:cs typeface="Arial"/>
              </a:defRPr>
            </a:pPr>
            <a:r>
              <a:t>Recruiters: requirements, selection and offers</a:t>
            </a:r>
          </a:p>
          <a:p xmlns:a="http://schemas.openxmlformats.org/drawingml/2006/main">
            <a:pPr marL="254000" indent="-127000">
              <a:spcAft>
                <a:spcPts val="1700"/>
              </a:spcAft>
              <a:buChar char="•"/>
              <a:defRPr sz="1950" b="0">
                <a:solidFill>
                  <a:srgbClr val="252527"/>
                </a:solidFill>
                <a:latin typeface="Arial"/>
                <a:ea typeface="Arial"/>
                <a:cs typeface="Arial"/>
              </a:defRPr>
            </a:pPr>
            <a:r>
              <a:t>Campus teams: verification and drive coordination</a:t>
            </a:r>
          </a:p>
          <a:p xmlns:a="http://schemas.openxmlformats.org/drawingml/2006/main">
            <a:pPr marL="254000" indent="-127000">
              <a:spcAft>
                <a:spcPts val="1700"/>
              </a:spcAft>
              <a:buChar char="•"/>
              <a:defRPr sz="1950" b="0">
                <a:solidFill>
                  <a:srgbClr val="252527"/>
                </a:solidFill>
                <a:latin typeface="Arial"/>
                <a:ea typeface="Arial"/>
                <a:cs typeface="Arial"/>
              </a:defRPr>
            </a:pPr>
            <a:r>
              <a:t>Administrators: access and assessment content</a:t>
            </a:r>
          </a:p>
        </p:txBody>
      </p:sp>
      <p:pic>
        <p:nvPicPr>
          <p:cNvPr id="6" name="">
            <a:extLst xmlns:a="http://schemas.openxmlformats.org/drawingml/2006/main">
              <a:ext uri="{FF2B5EF4-FFF2-40B4-BE49-F238E27FC236}">
                <a16:creationId xmlns:a16="http://schemas.microsoft.com/office/drawing/2014/main" id="{12D9D83A-7746-4A5F-B02B-31B963597690}"/>
              </a:ext>
            </a:extLst>
          </p:cNvPr>
          <p:cNvPicPr>
            <a:picLocks xmlns:a="http://schemas.openxmlformats.org/drawingml/2006/main" noChangeAspect="1"/>
          </p:cNvPicPr>
          <p:nvPr/>
        </p:nvPicPr>
        <p:blipFill>
          <a:blip xmlns:r="http://schemas.openxmlformats.org/officeDocument/2006/relationships" xmlns:a="http://schemas.openxmlformats.org/drawingml/2006/main" r:embed="R059b8d2a237140c2"/>
          <a:stretch xmlns:a="http://schemas.openxmlformats.org/drawingml/2006/main"/>
        </p:blipFill>
        <p:spPr>
          <a:xfrm xmlns:a="http://schemas.openxmlformats.org/drawingml/2006/main">
            <a:off x="6004454" y="2143125"/>
            <a:ext cx="5469467" cy="3076575"/>
          </a:xfrm>
          <a:prstGeom xmlns:a="http://schemas.openxmlformats.org/drawingml/2006/main" prst="rect">
            <a:avLst/>
          </a:prstGeom>
        </p:spPr>
      </p:pic>
      <p:sp>
        <p:nvSpPr>
          <p:cNvPr id="7" name="Student dashboard screenshot">
            <a:extLst xmlns:a="http://schemas.openxmlformats.org/drawingml/2006/main">
              <a:ext uri="{FF2B5EF4-FFF2-40B4-BE49-F238E27FC236}">
                <a16:creationId xmlns:a16="http://schemas.microsoft.com/office/drawing/2014/main" id="{6C1BAE53-063D-4B3F-ADF1-909EA636C44A}"/>
              </a:ext>
            </a:extLst>
          </p:cNvPr>
          <p:cNvSpPr>
            <a:spLocks xmlns:a="http://schemas.openxmlformats.org/drawingml/2006/main" noGrp="1"/>
          </p:cNvSpPr>
          <p:nvPr/>
        </p:nvSpPr>
        <p:spPr>
          <a:xfrm xmlns:a="http://schemas.openxmlformats.org/drawingml/2006/main">
            <a:off x="6000750" y="5362575"/>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66666D"/>
                </a:solidFill>
                <a:latin typeface="Arial"/>
                <a:ea typeface="Arial"/>
                <a:cs typeface="Arial"/>
              </a:defRPr>
            </a:defPPr>
          </a:lstStyle>
          <a:p xmlns:a="http://schemas.openxmlformats.org/drawingml/2006/main">
            <a:pPr>
              <a:defRPr sz="1500" b="0">
                <a:solidFill>
                  <a:srgbClr val="66666D"/>
                </a:solidFill>
                <a:latin typeface="Arial"/>
                <a:ea typeface="Arial"/>
                <a:cs typeface="Arial"/>
              </a:defRPr>
            </a:pPr>
            <a:r>
              <a:rPr sz="1500" b="0">
                <a:solidFill>
                  <a:srgbClr val="66666D"/>
                </a:solidFill>
                <a:latin typeface="Arial"/>
                <a:ea typeface="Arial"/>
                <a:cs typeface="Arial"/>
              </a:rPr>
              <a:t>Student dashboard screenshot</a:t>
            </a:r>
          </a:p>
        </p:txBody>
      </p:sp>
    </p:spTree>
    <p:extLst>
      <p:ext uri="{BB962C8B-B14F-4D97-AF65-F5344CB8AC3E}">
        <p14:creationId xmlns:p14="http://schemas.microsoft.com/office/powerpoint/2010/main" val="180382716"/>
      </p:ext>
    </p:extLst>
  </p:cSld>
</p:sld>
</file>

<file path=ppt/slides/slide4.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C99650E2-BF90-45A1-A54E-5491492F5885}"/>
              </a:ext>
            </a:extLst>
          </p:cNvPr>
          <p:cNvCxnSpPr>
            <a:stCxn xmlns:a="http://schemas.openxmlformats.org/drawingml/2006/main" id="8" idx="2"/>
            <a:endCxn xmlns:a="http://schemas.openxmlformats.org/drawingml/2006/main" id="13" idx="0"/>
          </p:cNvCxnSpPr>
          <p:nvPr/>
        </p:nvCxnSpPr>
        <p:spPr>
          <a:xfrm xmlns:a="http://schemas.openxmlformats.org/drawingml/2006/main" flipH="1">
            <a:off x="9929813" y="3352800"/>
            <a:ext cx="476250" cy="904875"/>
          </a:xfrm>
          <a:prstGeom xmlns:a="http://schemas.openxmlformats.org/drawingml/2006/main" prst="bentConnector4">
            <a:avLst>
              <a:gd name="adj1" fmla="val 0"/>
              <a:gd name="adj2" fmla="val 50000"/>
            </a:avLst>
          </a:prstGeom>
          <a:ln xmlns:a="http://schemas.openxmlformats.org/drawingml/2006/main" w="19050">
            <a:solidFill>
              <a:srgbClr val="3C3E60"/>
            </a:solidFill>
            <a:tailEnd type="arrow" w="med" len="med"/>
          </a:ln>
        </p:spPr>
      </p:cxnSp>
      <p:cxnSp>
        <p:nvCxnSpPr>
          <p:cNvPr id="14" name="">
            <a:extLst xmlns:a="http://schemas.openxmlformats.org/drawingml/2006/main">
              <a:ext uri="{FF2B5EF4-FFF2-40B4-BE49-F238E27FC236}">
                <a16:creationId xmlns:a16="http://schemas.microsoft.com/office/drawing/2014/main" id="{C73C3E66-B0FA-4494-A1B5-EEFE9004C5D9}"/>
              </a:ext>
            </a:extLst>
          </p:cNvPr>
          <p:cNvCxnSpPr>
            <a:stCxn xmlns:a="http://schemas.openxmlformats.org/drawingml/2006/main" id="7" idx="2"/>
            <a:endCxn xmlns:a="http://schemas.openxmlformats.org/drawingml/2006/main" id="12" idx="0"/>
          </p:cNvCxnSpPr>
          <p:nvPr/>
        </p:nvCxnSpPr>
        <p:spPr>
          <a:xfrm xmlns:a="http://schemas.openxmlformats.org/drawingml/2006/main" flipH="1">
            <a:off x="6262688" y="3352800"/>
            <a:ext cx="1262063" cy="904875"/>
          </a:xfrm>
          <a:prstGeom xmlns:a="http://schemas.openxmlformats.org/drawingml/2006/main" prst="bentConnector4">
            <a:avLst>
              <a:gd name="adj1" fmla="val 0"/>
              <a:gd name="adj2" fmla="val 50000"/>
            </a:avLst>
          </a:prstGeom>
          <a:ln xmlns:a="http://schemas.openxmlformats.org/drawingml/2006/main" w="19050">
            <a:solidFill>
              <a:srgbClr val="3C3E60"/>
            </a:solidFill>
            <a:tailEnd type="arrow" w="med" len="med"/>
          </a:ln>
        </p:spPr>
      </p:cxnSp>
      <p:cxnSp>
        <p:nvCxnSpPr>
          <p:cNvPr id="11" name="">
            <a:extLst xmlns:a="http://schemas.openxmlformats.org/drawingml/2006/main">
              <a:ext uri="{FF2B5EF4-FFF2-40B4-BE49-F238E27FC236}">
                <a16:creationId xmlns:a16="http://schemas.microsoft.com/office/drawing/2014/main" id="{AB558BFA-0BE5-45FB-82DA-02EBFE8B062C}"/>
              </a:ext>
            </a:extLst>
          </p:cNvPr>
          <p:cNvCxnSpPr>
            <a:stCxn xmlns:a="http://schemas.openxmlformats.org/drawingml/2006/main" id="7" idx="3"/>
            <a:endCxn xmlns:a="http://schemas.openxmlformats.org/drawingml/2006/main" id="8" idx="1"/>
          </p:cNvCxnSpPr>
          <p:nvPr/>
        </p:nvCxnSpPr>
        <p:spPr>
          <a:xfrm xmlns:a="http://schemas.openxmlformats.org/drawingml/2006/main">
            <a:off x="8715375" y="2819400"/>
            <a:ext cx="571500" cy="0"/>
          </a:xfrm>
          <a:prstGeom xmlns:a="http://schemas.openxmlformats.org/drawingml/2006/main" prst="straightConnector1">
            <a:avLst/>
          </a:prstGeom>
          <a:ln xmlns:a="http://schemas.openxmlformats.org/drawingml/2006/main" w="19050">
            <a:solidFill>
              <a:srgbClr val="3C3E60"/>
            </a:solidFill>
            <a:tailEnd type="arrow" w="med" len="med"/>
          </a:ln>
        </p:spPr>
      </p:cxnSp>
      <p:cxnSp>
        <p:nvCxnSpPr>
          <p:cNvPr id="10" name="">
            <a:extLst xmlns:a="http://schemas.openxmlformats.org/drawingml/2006/main">
              <a:ext uri="{FF2B5EF4-FFF2-40B4-BE49-F238E27FC236}">
                <a16:creationId xmlns:a16="http://schemas.microsoft.com/office/drawing/2014/main" id="{C6FCE64A-CEFE-4C3E-9178-3FF795A05EC2}"/>
              </a:ext>
            </a:extLst>
          </p:cNvPr>
          <p:cNvCxnSpPr>
            <a:stCxn xmlns:a="http://schemas.openxmlformats.org/drawingml/2006/main" id="6" idx="3"/>
            <a:endCxn xmlns:a="http://schemas.openxmlformats.org/drawingml/2006/main" id="7" idx="1"/>
          </p:cNvCxnSpPr>
          <p:nvPr/>
        </p:nvCxnSpPr>
        <p:spPr>
          <a:xfrm xmlns:a="http://schemas.openxmlformats.org/drawingml/2006/main">
            <a:off x="5762625" y="2819400"/>
            <a:ext cx="571500" cy="0"/>
          </a:xfrm>
          <a:prstGeom xmlns:a="http://schemas.openxmlformats.org/drawingml/2006/main" prst="straightConnector1">
            <a:avLst/>
          </a:prstGeom>
          <a:ln xmlns:a="http://schemas.openxmlformats.org/drawingml/2006/main" w="19050">
            <a:solidFill>
              <a:srgbClr val="3C3E60"/>
            </a:solidFill>
            <a:tailEnd type="arrow" w="med" len="med"/>
          </a:ln>
        </p:spPr>
      </p:cxnSp>
      <p:cxnSp>
        <p:nvCxnSpPr>
          <p:cNvPr id="9" name="">
            <a:extLst xmlns:a="http://schemas.openxmlformats.org/drawingml/2006/main">
              <a:ext uri="{FF2B5EF4-FFF2-40B4-BE49-F238E27FC236}">
                <a16:creationId xmlns:a16="http://schemas.microsoft.com/office/drawing/2014/main" id="{030D76DD-6B39-4389-A82E-B3EB1C543159}"/>
              </a:ext>
            </a:extLst>
          </p:cNvPr>
          <p:cNvCxnSpPr>
            <a:stCxn xmlns:a="http://schemas.openxmlformats.org/drawingml/2006/main" id="5" idx="3"/>
            <a:endCxn xmlns:a="http://schemas.openxmlformats.org/drawingml/2006/main" id="6" idx="1"/>
          </p:cNvCxnSpPr>
          <p:nvPr/>
        </p:nvCxnSpPr>
        <p:spPr>
          <a:xfrm xmlns:a="http://schemas.openxmlformats.org/drawingml/2006/main">
            <a:off x="2905125" y="2819400"/>
            <a:ext cx="571500" cy="0"/>
          </a:xfrm>
          <a:prstGeom xmlns:a="http://schemas.openxmlformats.org/drawingml/2006/main" prst="straightConnector1">
            <a:avLst/>
          </a:prstGeom>
          <a:ln xmlns:a="http://schemas.openxmlformats.org/drawingml/2006/main" w="19050">
            <a:solidFill>
              <a:srgbClr val="3C3E60"/>
            </a:solidFill>
            <a:tailEnd type="arrow" w="med" len="med"/>
          </a:ln>
        </p:spPr>
      </p:cxnSp>
      <p:sp>
        <p:nvSpPr>
          <p:cNvPr id="17" name="CAMPUSLINK">
            <a:extLst xmlns:a="http://schemas.openxmlformats.org/drawingml/2006/main">
              <a:ext uri="{FF2B5EF4-FFF2-40B4-BE49-F238E27FC236}">
                <a16:creationId xmlns:a16="http://schemas.microsoft.com/office/drawing/2014/main" id="{C5AD24B2-95C2-4261-91CA-C8103769E867}"/>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System architecture">
            <a:extLst xmlns:a="http://schemas.openxmlformats.org/drawingml/2006/main">
              <a:ext uri="{FF2B5EF4-FFF2-40B4-BE49-F238E27FC236}">
                <a16:creationId xmlns:a16="http://schemas.microsoft.com/office/drawing/2014/main" id="{CF353137-9DC9-4187-B55E-61E8DF42D012}"/>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System architecture</a:t>
            </a:r>
          </a:p>
        </p:txBody>
      </p:sp>
      <p:sp>
        <p:nvSpPr>
          <p:cNvPr id="3" name="StartX / BPUT Hackathon 2026 / PS10">
            <a:extLst xmlns:a="http://schemas.openxmlformats.org/drawingml/2006/main">
              <a:ext uri="{FF2B5EF4-FFF2-40B4-BE49-F238E27FC236}">
                <a16:creationId xmlns:a16="http://schemas.microsoft.com/office/drawing/2014/main" id="{A2DB4037-745B-44AB-971E-2A18964648D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4">
            <a:extLst xmlns:a="http://schemas.openxmlformats.org/drawingml/2006/main">
              <a:ext uri="{FF2B5EF4-FFF2-40B4-BE49-F238E27FC236}">
                <a16:creationId xmlns:a16="http://schemas.microsoft.com/office/drawing/2014/main" id="{DB6392E4-9486-45B1-B613-19AFCAB25FDA}"/>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04</a:t>
            </a:r>
          </a:p>
        </p:txBody>
      </p:sp>
      <p:sp>
        <p:nvSpPr>
          <p:cNvPr id="5" name="Browser&#10;Role dashboards">
            <a:extLst xmlns:a="http://schemas.openxmlformats.org/drawingml/2006/main">
              <a:ext uri="{FF2B5EF4-FFF2-40B4-BE49-F238E27FC236}">
                <a16:creationId xmlns:a16="http://schemas.microsoft.com/office/drawing/2014/main" id="{20129DEF-B511-4797-AB9A-03EE7C0BE0BA}"/>
              </a:ext>
            </a:extLst>
          </p:cNvPr>
          <p:cNvSpPr>
            <a:spLocks xmlns:a="http://schemas.openxmlformats.org/drawingml/2006/main" noGrp="1"/>
          </p:cNvSpPr>
          <p:nvPr/>
        </p:nvSpPr>
        <p:spPr>
          <a:xfrm xmlns:a="http://schemas.openxmlformats.org/drawingml/2006/main">
            <a:off x="666750" y="2286000"/>
            <a:ext cx="2238375" cy="106680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Browser</a:t>
            </a:r>
          </a:p>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Role dashboards</a:t>
            </a:r>
          </a:p>
        </p:txBody>
      </p:sp>
      <p:sp>
        <p:nvSpPr>
          <p:cNvPr id="6" name="Next.js&#10;/api/v1 proxy">
            <a:extLst xmlns:a="http://schemas.openxmlformats.org/drawingml/2006/main">
              <a:ext uri="{FF2B5EF4-FFF2-40B4-BE49-F238E27FC236}">
                <a16:creationId xmlns:a16="http://schemas.microsoft.com/office/drawing/2014/main" id="{51D4C3B2-C014-4FAF-A6BE-78CE20316DF1}"/>
              </a:ext>
            </a:extLst>
          </p:cNvPr>
          <p:cNvSpPr>
            <a:spLocks xmlns:a="http://schemas.openxmlformats.org/drawingml/2006/main" noGrp="1"/>
          </p:cNvSpPr>
          <p:nvPr/>
        </p:nvSpPr>
        <p:spPr>
          <a:xfrm xmlns:a="http://schemas.openxmlformats.org/drawingml/2006/main">
            <a:off x="3476625" y="2286000"/>
            <a:ext cx="2286000" cy="106680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Next.js</a:t>
            </a:r>
          </a:p>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/api/v1 proxy</a:t>
            </a:r>
          </a:p>
        </p:txBody>
      </p:sp>
      <p:sp>
        <p:nvSpPr>
          <p:cNvPr id="7" name="Express API&#10;Rules + sessions">
            <a:extLst xmlns:a="http://schemas.openxmlformats.org/drawingml/2006/main">
              <a:ext uri="{FF2B5EF4-FFF2-40B4-BE49-F238E27FC236}">
                <a16:creationId xmlns:a16="http://schemas.microsoft.com/office/drawing/2014/main" id="{9331527D-447D-4830-89D3-32A07627A725}"/>
              </a:ext>
            </a:extLst>
          </p:cNvPr>
          <p:cNvSpPr>
            <a:spLocks xmlns:a="http://schemas.openxmlformats.org/drawingml/2006/main" noGrp="1"/>
          </p:cNvSpPr>
          <p:nvPr/>
        </p:nvSpPr>
        <p:spPr>
          <a:xfrm xmlns:a="http://schemas.openxmlformats.org/drawingml/2006/main">
            <a:off x="6334125" y="2286000"/>
            <a:ext cx="2381250" cy="106680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Express API</a:t>
            </a:r>
          </a:p>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Rules + sessions</a:t>
            </a:r>
          </a:p>
        </p:txBody>
      </p:sp>
      <p:sp>
        <p:nvSpPr>
          <p:cNvPr id="8" name="Database&#10;PostgreSQL / SQLite">
            <a:extLst xmlns:a="http://schemas.openxmlformats.org/drawingml/2006/main">
              <a:ext uri="{FF2B5EF4-FFF2-40B4-BE49-F238E27FC236}">
                <a16:creationId xmlns:a16="http://schemas.microsoft.com/office/drawing/2014/main" id="{59F160BA-4261-4052-9E5F-8CF1EA5EDB3E}"/>
              </a:ext>
            </a:extLst>
          </p:cNvPr>
          <p:cNvSpPr>
            <a:spLocks xmlns:a="http://schemas.openxmlformats.org/drawingml/2006/main" noGrp="1"/>
          </p:cNvSpPr>
          <p:nvPr/>
        </p:nvSpPr>
        <p:spPr>
          <a:xfrm xmlns:a="http://schemas.openxmlformats.org/drawingml/2006/main">
            <a:off x="9286875" y="2286000"/>
            <a:ext cx="2238375" cy="106680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Database</a:t>
            </a:r>
          </a:p>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PostgreSQL / SQLite</a:t>
            </a:r>
          </a:p>
        </p:txBody>
      </p:sp>
      <p:sp>
        <p:nvSpPr>
          <p:cNvPr id="12" name="Private document storage">
            <a:extLst xmlns:a="http://schemas.openxmlformats.org/drawingml/2006/main">
              <a:ext uri="{FF2B5EF4-FFF2-40B4-BE49-F238E27FC236}">
                <a16:creationId xmlns:a16="http://schemas.microsoft.com/office/drawing/2014/main" id="{07B9E7F8-8D14-4292-9584-9A11DE0AFA2C}"/>
              </a:ext>
            </a:extLst>
          </p:cNvPr>
          <p:cNvSpPr>
            <a:spLocks xmlns:a="http://schemas.openxmlformats.org/drawingml/2006/main" noGrp="1"/>
          </p:cNvSpPr>
          <p:nvPr/>
        </p:nvSpPr>
        <p:spPr>
          <a:xfrm xmlns:a="http://schemas.openxmlformats.org/drawingml/2006/main">
            <a:off x="4762500" y="4257675"/>
            <a:ext cx="3000375"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Private document storage</a:t>
            </a:r>
          </a:p>
        </p:txBody>
      </p:sp>
      <p:sp>
        <p:nvSpPr>
          <p:cNvPr id="13" name="Email / reminder workers">
            <a:extLst xmlns:a="http://schemas.openxmlformats.org/drawingml/2006/main">
              <a:ext uri="{FF2B5EF4-FFF2-40B4-BE49-F238E27FC236}">
                <a16:creationId xmlns:a16="http://schemas.microsoft.com/office/drawing/2014/main" id="{9CACD9B3-80DD-40CE-ADA8-40D5F0E44564}"/>
              </a:ext>
            </a:extLst>
          </p:cNvPr>
          <p:cNvSpPr>
            <a:spLocks xmlns:a="http://schemas.openxmlformats.org/drawingml/2006/main" noGrp="1"/>
          </p:cNvSpPr>
          <p:nvPr/>
        </p:nvSpPr>
        <p:spPr>
          <a:xfrm xmlns:a="http://schemas.openxmlformats.org/drawingml/2006/main">
            <a:off x="8334375" y="4257675"/>
            <a:ext cx="3190875"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Email / reminder workers</a:t>
            </a:r>
          </a:p>
        </p:txBody>
      </p:sp>
      <p:sp>
        <p:nvSpPr>
          <p:cNvPr id="16" name="Optional coaching and speech providers connec">
            <a:extLst xmlns:a="http://schemas.openxmlformats.org/drawingml/2006/main">
              <a:ext uri="{FF2B5EF4-FFF2-40B4-BE49-F238E27FC236}">
                <a16:creationId xmlns:a16="http://schemas.microsoft.com/office/drawing/2014/main" id="{AB6BE7DE-A9D4-4135-826D-840DBB75699C}"/>
              </a:ext>
            </a:extLst>
          </p:cNvPr>
          <p:cNvSpPr>
            <a:spLocks xmlns:a="http://schemas.openxmlformats.org/drawingml/2006/main" noGrp="1"/>
          </p:cNvSpPr>
          <p:nvPr/>
        </p:nvSpPr>
        <p:spPr>
          <a:xfrm xmlns:a="http://schemas.openxmlformats.org/drawingml/2006/main">
            <a:off x="666750" y="53911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252527"/>
                </a:solidFill>
                <a:latin typeface="Arial"/>
                <a:ea typeface="Arial"/>
                <a:cs typeface="Arial"/>
              </a:defRPr>
            </a:defPPr>
          </a:lstStyle>
          <a:p xmlns:a="http://schemas.openxmlformats.org/drawingml/2006/main">
            <a:pPr>
              <a:defRPr sz="2025" b="0">
                <a:solidFill>
                  <a:srgbClr val="252527"/>
                </a:solidFill>
                <a:latin typeface="Arial"/>
                <a:ea typeface="Arial"/>
                <a:cs typeface="Arial"/>
              </a:defRPr>
            </a:pPr>
            <a:r>
              <a:rPr sz="2025" b="0">
                <a:solidFill>
                  <a:srgbClr val="252527"/>
                </a:solidFill>
                <a:latin typeface="Arial"/>
                <a:ea typeface="Arial"/>
                <a:cs typeface="Arial"/>
              </a:rPr>
              <a:t>Optional coaching and speech providers connect through the backend.</a:t>
            </a:r>
          </a:p>
        </p:txBody>
      </p:sp>
    </p:spTree>
    <p:extLst>
      <p:ext uri="{BB962C8B-B14F-4D97-AF65-F5344CB8AC3E}">
        <p14:creationId xmlns:p14="http://schemas.microsoft.com/office/powerpoint/2010/main" val="1579361308"/>
      </p:ext>
    </p:extLst>
  </p:cSld>
</p:sld>
</file>

<file path=ppt/slides/slide5.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582A93D0-2DFA-4FFA-AE76-25AEE798B54B}"/>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Data model and access protection">
            <a:extLst xmlns:a="http://schemas.openxmlformats.org/drawingml/2006/main">
              <a:ext uri="{FF2B5EF4-FFF2-40B4-BE49-F238E27FC236}">
                <a16:creationId xmlns:a16="http://schemas.microsoft.com/office/drawing/2014/main" id="{FB098108-7CAF-4A2D-A8E6-AE5319D52E1B}"/>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Data model and access protection</a:t>
            </a:r>
          </a:p>
        </p:txBody>
      </p:sp>
      <p:sp>
        <p:nvSpPr>
          <p:cNvPr id="3" name="StartX / BPUT Hackathon 2026 / PS10">
            <a:extLst xmlns:a="http://schemas.openxmlformats.org/drawingml/2006/main">
              <a:ext uri="{FF2B5EF4-FFF2-40B4-BE49-F238E27FC236}">
                <a16:creationId xmlns:a16="http://schemas.microsoft.com/office/drawing/2014/main" id="{35EFC029-B984-4768-80EB-42407C358325}"/>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5">
            <a:extLst xmlns:a="http://schemas.openxmlformats.org/drawingml/2006/main">
              <a:ext uri="{FF2B5EF4-FFF2-40B4-BE49-F238E27FC236}">
                <a16:creationId xmlns:a16="http://schemas.microsoft.com/office/drawing/2014/main" id="{C379D9C1-DD32-489D-9960-AC9B97B2A7FD}"/>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05</a:t>
            </a:r>
          </a:p>
        </p:txBody>
      </p:sp>
      <p:graphicFrame>
        <p:nvGraphicFramePr>
          <p:cNvPr id="5" name="">
            <a:extLst xmlns:a="http://schemas.openxmlformats.org/drawingml/2006/main">
              <a:ext uri="{FF2B5EF4-FFF2-40B4-BE49-F238E27FC236}">
                <a16:creationId xmlns:a16="http://schemas.microsoft.com/office/drawing/2014/main" id="{BFF405D2-AE4B-45D4-A456-8BCA196CC342}"/>
              </a:ext>
            </a:extLst>
          </p:cNvPr>
          <p:cNvGraphicFramePr/>
          <p:nvPr/>
        </p:nvGraphicFramePr>
        <p:xfrm>
          <a:off xmlns:a="http://schemas.openxmlformats.org/drawingml/2006/main" x="666750" y="2019300"/>
          <a:ext xmlns:a="http://schemas.openxmlformats.org/drawingml/2006/main" cx="10839450" cy="2857500"/>
        </p:xfrm>
        <a:graphic xmlns:a="http://schemas.openxmlformats.org/drawingml/2006/main">
          <a:graphicData uri="http://schemas.openxmlformats.org/drawingml/2006/table">
            <a:tbl>
              <a:tblPr/>
              <a:tblGrid>
                <a:gridCol w="3381375"/>
                <a:gridCol w="7458075"/>
              </a:tblGrid>
              <a:tr h="571500">
                <a:tc>
                  <a:txBody>
                    <a:bodyPr/>
                    <a:lstStyle/>
                    <a:p>
                      <a:r>
                        <a:rPr sz="1800" b="1">
                          <a:solidFill>
                            <a:srgbClr val="3C3E60"/>
                          </a:solidFill>
                          <a:latin typeface="Arial"/>
                          <a:ea typeface="Arial"/>
                          <a:cs typeface="Arial"/>
                        </a:rPr>
                        <a:t>Entity group</a:t>
                      </a:r>
                    </a:p>
                  </a:txBody>
                  <a:tcPr marL="114300" marR="114300" marT="95250" marB="95250">
                    <a:solidFill>
                      <a:srgbClr val="CDC2DB"/>
                    </a:solidFill>
                  </a:tcPr>
                </a:tc>
                <a:tc>
                  <a:txBody>
                    <a:bodyPr/>
                    <a:lstStyle/>
                    <a:p>
                      <a:r>
                        <a:rPr sz="1800" b="1">
                          <a:solidFill>
                            <a:srgbClr val="3C3E60"/>
                          </a:solidFill>
                          <a:latin typeface="Arial"/>
                          <a:ea typeface="Arial"/>
                          <a:cs typeface="Arial"/>
                        </a:rPr>
                        <a:t>Purpose</a:t>
                      </a:r>
                    </a:p>
                  </a:txBody>
                  <a:tcPr marL="114300" marR="114300" marT="95250" marB="95250">
                    <a:solidFill>
                      <a:srgbClr val="CDC2DB"/>
                    </a:solidFill>
                  </a:tcPr>
                </a:tc>
              </a:tr>
              <a:tr h="571500">
                <a:tc>
                  <a:txBody>
                    <a:bodyPr/>
                    <a:lstStyle/>
                    <a:p>
                      <a:r>
                        <a:rPr sz="1800">
                          <a:solidFill>
                            <a:srgbClr val="252527"/>
                          </a:solidFill>
                          <a:latin typeface="Arial"/>
                          <a:ea typeface="Arial"/>
                          <a:cs typeface="Arial"/>
                        </a:rPr>
                        <a:t>Campuses and accounts</a:t>
                      </a:r>
                    </a:p>
                  </a:txBody>
                  <a:tcPr marL="114300" marR="114300" marT="95250" marB="95250">
                    <a:solidFill>
                      <a:srgbClr val="F1EEE4"/>
                    </a:solidFill>
                  </a:tcPr>
                </a:tc>
                <a:tc>
                  <a:txBody>
                    <a:bodyPr/>
                    <a:lstStyle/>
                    <a:p>
                      <a:r>
                        <a:rPr sz="1800">
                          <a:solidFill>
                            <a:srgbClr val="252527"/>
                          </a:solidFill>
                          <a:latin typeface="Arial"/>
                          <a:ea typeface="Arial"/>
                          <a:cs typeface="Arial"/>
                        </a:rPr>
                        <a:t>Identity, roles and institutional scope</a:t>
                      </a:r>
                    </a:p>
                  </a:txBody>
                  <a:tcPr marL="114300" marR="114300" marT="95250" marB="95250">
                    <a:solidFill>
                      <a:srgbClr val="F1EEE4"/>
                    </a:solidFill>
                  </a:tcPr>
                </a:tc>
              </a:tr>
              <a:tr h="571500">
                <a:tc>
                  <a:txBody>
                    <a:bodyPr/>
                    <a:lstStyle/>
                    <a:p>
                      <a:r>
                        <a:rPr sz="1800">
                          <a:solidFill>
                            <a:srgbClr val="252527"/>
                          </a:solidFill>
                          <a:latin typeface="Arial"/>
                          <a:ea typeface="Arial"/>
                          <a:cs typeface="Arial"/>
                        </a:rPr>
                        <a:t>Profiles and evidence</a:t>
                      </a:r>
                    </a:p>
                  </a:txBody>
                  <a:tcPr marL="114300" marR="114300" marT="95250" marB="95250">
                    <a:solidFill>
                      <a:srgbClr val="F1EEE4"/>
                    </a:solidFill>
                  </a:tcPr>
                </a:tc>
                <a:tc>
                  <a:txBody>
                    <a:bodyPr/>
                    <a:lstStyle/>
                    <a:p>
                      <a:r>
                        <a:rPr sz="1800">
                          <a:solidFill>
                            <a:srgbClr val="252527"/>
                          </a:solidFill>
                          <a:latin typeface="Arial"/>
                          <a:ea typeface="Arial"/>
                          <a:cs typeface="Arial"/>
                        </a:rPr>
                        <a:t>Skills, projects, assessments and documents</a:t>
                      </a:r>
                    </a:p>
                  </a:txBody>
                  <a:tcPr marL="114300" marR="114300" marT="95250" marB="95250">
                    <a:solidFill>
                      <a:srgbClr val="F1EEE4"/>
                    </a:solidFill>
                  </a:tcPr>
                </a:tc>
              </a:tr>
              <a:tr h="571500">
                <a:tc>
                  <a:txBody>
                    <a:bodyPr/>
                    <a:lstStyle/>
                    <a:p>
                      <a:r>
                        <a:rPr sz="1800">
                          <a:solidFill>
                            <a:srgbClr val="252527"/>
                          </a:solidFill>
                          <a:latin typeface="Arial"/>
                          <a:ea typeface="Arial"/>
                          <a:cs typeface="Arial"/>
                        </a:rPr>
                        <a:t>Drives and applications</a:t>
                      </a:r>
                    </a:p>
                  </a:txBody>
                  <a:tcPr marL="114300" marR="114300" marT="95250" marB="95250">
                    <a:solidFill>
                      <a:srgbClr val="F1EEE4"/>
                    </a:solidFill>
                  </a:tcPr>
                </a:tc>
                <a:tc>
                  <a:txBody>
                    <a:bodyPr/>
                    <a:lstStyle/>
                    <a:p>
                      <a:r>
                        <a:rPr sz="1800">
                          <a:solidFill>
                            <a:srgbClr val="252527"/>
                          </a:solidFill>
                          <a:latin typeface="Arial"/>
                          <a:ea typeface="Arial"/>
                          <a:cs typeface="Arial"/>
                        </a:rPr>
                        <a:t>Recruiter requirements and candidate progression</a:t>
                      </a:r>
                    </a:p>
                  </a:txBody>
                  <a:tcPr marL="114300" marR="114300" marT="95250" marB="95250">
                    <a:solidFill>
                      <a:srgbClr val="F1EEE4"/>
                    </a:solidFill>
                  </a:tcPr>
                </a:tc>
              </a:tr>
              <a:tr h="571500">
                <a:tc>
                  <a:txBody>
                    <a:bodyPr/>
                    <a:lstStyle/>
                    <a:p>
                      <a:r>
                        <a:rPr sz="1800">
                          <a:solidFill>
                            <a:srgbClr val="252527"/>
                          </a:solidFill>
                          <a:latin typeface="Arial"/>
                          <a:ea typeface="Arial"/>
                          <a:cs typeface="Arial"/>
                        </a:rPr>
                        <a:t>Offers and notifications</a:t>
                      </a:r>
                    </a:p>
                  </a:txBody>
                  <a:tcPr marL="114300" marR="114300" marT="95250" marB="95250">
                    <a:solidFill>
                      <a:srgbClr val="F1EEE4"/>
                    </a:solidFill>
                  </a:tcPr>
                </a:tc>
                <a:tc>
                  <a:txBody>
                    <a:bodyPr/>
                    <a:lstStyle/>
                    <a:p>
                      <a:r>
                        <a:rPr sz="1800">
                          <a:solidFill>
                            <a:srgbClr val="252527"/>
                          </a:solidFill>
                          <a:latin typeface="Arial"/>
                          <a:ea typeface="Arial"/>
                          <a:cs typeface="Arial"/>
                        </a:rPr>
                        <a:t>Responses, joining status and communication</a:t>
                      </a:r>
                    </a:p>
                  </a:txBody>
                  <a:tcPr marL="114300" marR="114300" marT="95250" marB="95250">
                    <a:solidFill>
                      <a:srgbClr val="F1EEE4"/>
                    </a:solidFill>
                  </a:tcPr>
                </a:tc>
              </a:tr>
            </a:tbl>
          </a:graphicData>
        </a:graphic>
      </p:graphicFrame>
      <p:sp>
        <p:nvSpPr>
          <p:cNvPr id="6" name="">
            <a:extLst xmlns:a="http://schemas.openxmlformats.org/drawingml/2006/main">
              <a:ext uri="{FF2B5EF4-FFF2-40B4-BE49-F238E27FC236}">
                <a16:creationId xmlns:a16="http://schemas.microsoft.com/office/drawing/2014/main" id="{05F2570D-231F-4BF3-A0BE-F7CB19E40889}"/>
              </a:ext>
            </a:extLst>
          </p:cNvPr>
          <p:cNvSpPr>
            <a:spLocks xmlns:a="http://schemas.openxmlformats.org/drawingml/2006/main" noGrp="1"/>
          </p:cNvSpPr>
          <p:nvPr/>
        </p:nvSpPr>
        <p:spPr>
          <a:xfrm xmlns:a="http://schemas.openxmlformats.org/drawingml/2006/main">
            <a:off x="666750" y="5095875"/>
            <a:ext cx="108394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725" b="0">
                <a:solidFill>
                  <a:srgbClr val="252527"/>
                </a:solidFill>
                <a:latin typeface="Arial"/>
                <a:ea typeface="Arial"/>
                <a:cs typeface="Arial"/>
              </a:defRPr>
            </a:defPPr>
          </a:lstStyle>
          <a:p xmlns:a="http://schemas.openxmlformats.org/drawingml/2006/main">
            <a:pPr marL="254000" indent="-127000">
              <a:spcAft>
                <a:spcPts val="900"/>
              </a:spcAft>
              <a:buChar char="•"/>
              <a:defRPr sz="1725" b="0">
                <a:solidFill>
                  <a:srgbClr val="252527"/>
                </a:solidFill>
                <a:latin typeface="Arial"/>
                <a:ea typeface="Arial"/>
                <a:cs typeface="Arial"/>
              </a:defRPr>
            </a:pPr>
            <a:r>
              <a:t>Server sessions and CSRF checks protect requests.</a:t>
            </a:r>
          </a:p>
          <a:p xmlns:a="http://schemas.openxmlformats.org/drawingml/2006/main">
            <a:pPr marL="254000" indent="-127000">
              <a:spcAft>
                <a:spcPts val="900"/>
              </a:spcAft>
              <a:buChar char="•"/>
              <a:defRPr sz="1725" b="0">
                <a:solidFill>
                  <a:srgbClr val="252527"/>
                </a:solidFill>
                <a:latin typeface="Arial"/>
                <a:ea typeface="Arial"/>
                <a:cs typeface="Arial"/>
              </a:defRPr>
            </a:pPr>
            <a:r>
              <a:t>Campus and owner permissions restrict records.</a:t>
            </a:r>
          </a:p>
          <a:p xmlns:a="http://schemas.openxmlformats.org/drawingml/2006/main">
            <a:pPr marL="254000" indent="-127000">
              <a:spcAft>
                <a:spcPts val="900"/>
              </a:spcAft>
              <a:buChar char="•"/>
              <a:defRPr sz="1725" b="0">
                <a:solidFill>
                  <a:srgbClr val="252527"/>
                </a:solidFill>
                <a:latin typeface="Arial"/>
                <a:ea typeface="Arial"/>
                <a:cs typeface="Arial"/>
              </a:defRPr>
            </a:pPr>
            <a:r>
              <a:t>Foreign keys, transactions and audit logs protect workflow integrity.</a:t>
            </a:r>
          </a:p>
        </p:txBody>
      </p:sp>
    </p:spTree>
    <p:extLst>
      <p:ext uri="{BB962C8B-B14F-4D97-AF65-F5344CB8AC3E}">
        <p14:creationId xmlns:p14="http://schemas.microsoft.com/office/powerpoint/2010/main" val="1240892473"/>
      </p:ext>
    </p:extLst>
  </p:cSld>
</p:sld>
</file>

<file path=ppt/slides/slide6.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C8E7D695-D3F5-46A6-8570-D19CFAEDB9E4}"/>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Readiness scoring">
            <a:extLst xmlns:a="http://schemas.openxmlformats.org/drawingml/2006/main">
              <a:ext uri="{FF2B5EF4-FFF2-40B4-BE49-F238E27FC236}">
                <a16:creationId xmlns:a16="http://schemas.microsoft.com/office/drawing/2014/main" id="{F525EC8A-9140-4BE9-95B3-AE51FB246710}"/>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Readiness scoring</a:t>
            </a:r>
          </a:p>
        </p:txBody>
      </p:sp>
      <p:sp>
        <p:nvSpPr>
          <p:cNvPr id="3" name="StartX / BPUT Hackathon 2026 / PS10">
            <a:extLst xmlns:a="http://schemas.openxmlformats.org/drawingml/2006/main">
              <a:ext uri="{FF2B5EF4-FFF2-40B4-BE49-F238E27FC236}">
                <a16:creationId xmlns:a16="http://schemas.microsoft.com/office/drawing/2014/main" id="{718054FC-044B-4450-9C2E-3F0366F47C33}"/>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6">
            <a:extLst xmlns:a="http://schemas.openxmlformats.org/drawingml/2006/main">
              <a:ext uri="{FF2B5EF4-FFF2-40B4-BE49-F238E27FC236}">
                <a16:creationId xmlns:a16="http://schemas.microsoft.com/office/drawing/2014/main" id="{34EC2D70-928A-4806-8230-0D4ED6F5EA19}"/>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B023BDBC-8279-4174-97D0-6B7E883F8647}"/>
              </a:ext>
            </a:extLst>
          </p:cNvPr>
          <p:cNvGraphicFramePr/>
          <p:nvPr/>
        </p:nvGraphicFramePr>
        <p:xfrm>
          <a:off xmlns:a="http://schemas.openxmlformats.org/drawingml/2006/main" x="666750" y="2009775"/>
          <a:ext xmlns:a="http://schemas.openxmlformats.org/drawingml/2006/main" cx="10839450" cy="3448050"/>
        </p:xfrm>
        <a:graphic xmlns:a="http://schemas.openxmlformats.org/drawingml/2006/main">
          <a:graphicData uri="http://schemas.openxmlformats.org/drawingml/2006/table">
            <a:tbl>
              <a:tblPr/>
              <a:tblGrid>
                <a:gridCol w="2762250"/>
                <a:gridCol w="1333500"/>
                <a:gridCol w="6743700"/>
              </a:tblGrid>
              <a:tr h="492579">
                <a:tc>
                  <a:txBody>
                    <a:bodyPr/>
                    <a:lstStyle/>
                    <a:p>
                      <a:r>
                        <a:rPr sz="1800" b="1">
                          <a:solidFill>
                            <a:srgbClr val="3C3E60"/>
                          </a:solidFill>
                          <a:latin typeface="Arial"/>
                          <a:ea typeface="Arial"/>
                          <a:cs typeface="Arial"/>
                        </a:rPr>
                        <a:t>Readiness factor</a:t>
                      </a:r>
                    </a:p>
                  </a:txBody>
                  <a:tcPr marL="114300" marR="114300" marT="95250" marB="95250">
                    <a:solidFill>
                      <a:srgbClr val="CDC2DB"/>
                    </a:solidFill>
                  </a:tcPr>
                </a:tc>
                <a:tc>
                  <a:txBody>
                    <a:bodyPr/>
                    <a:lstStyle/>
                    <a:p>
                      <a:r>
                        <a:rPr sz="1800" b="1">
                          <a:solidFill>
                            <a:srgbClr val="3C3E60"/>
                          </a:solidFill>
                          <a:latin typeface="Arial"/>
                          <a:ea typeface="Arial"/>
                          <a:cs typeface="Arial"/>
                        </a:rPr>
                        <a:t>Weight</a:t>
                      </a:r>
                    </a:p>
                  </a:txBody>
                  <a:tcPr marL="114300" marR="114300" marT="95250" marB="95250">
                    <a:solidFill>
                      <a:srgbClr val="CDC2DB"/>
                    </a:solidFill>
                  </a:tcPr>
                </a:tc>
                <a:tc>
                  <a:txBody>
                    <a:bodyPr/>
                    <a:lstStyle/>
                    <a:p>
                      <a:r>
                        <a:rPr sz="1800" b="1">
                          <a:solidFill>
                            <a:srgbClr val="3C3E60"/>
                          </a:solidFill>
                          <a:latin typeface="Arial"/>
                          <a:ea typeface="Arial"/>
                          <a:cs typeface="Arial"/>
                        </a:rPr>
                        <a:t>Category score</a:t>
                      </a:r>
                    </a:p>
                  </a:txBody>
                  <a:tcPr marL="114300" marR="114300" marT="95250" marB="95250">
                    <a:solidFill>
                      <a:srgbClr val="CDC2DB"/>
                    </a:solidFill>
                  </a:tcPr>
                </a:tc>
              </a:tr>
              <a:tr h="492579">
                <a:tc>
                  <a:txBody>
                    <a:bodyPr/>
                    <a:lstStyle/>
                    <a:p>
                      <a:r>
                        <a:rPr sz="1800">
                          <a:solidFill>
                            <a:srgbClr val="252527"/>
                          </a:solidFill>
                          <a:latin typeface="Arial"/>
                          <a:ea typeface="Arial"/>
                          <a:cs typeface="Arial"/>
                        </a:rPr>
                        <a:t>Verified skills</a:t>
                      </a:r>
                    </a:p>
                  </a:txBody>
                  <a:tcPr marL="114300" marR="114300" marT="95250" marB="95250">
                    <a:solidFill>
                      <a:srgbClr val="F1EEE4"/>
                    </a:solidFill>
                  </a:tcPr>
                </a:tc>
                <a:tc>
                  <a:txBody>
                    <a:bodyPr/>
                    <a:lstStyle/>
                    <a:p>
                      <a:r>
                        <a:rPr sz="1800">
                          <a:solidFill>
                            <a:srgbClr val="252527"/>
                          </a:solidFill>
                          <a:latin typeface="Arial"/>
                          <a:ea typeface="Arial"/>
                          <a:cs typeface="Arial"/>
                        </a:rPr>
                        <a:t>30%</a:t>
                      </a:r>
                    </a:p>
                  </a:txBody>
                  <a:tcPr marL="114300" marR="114300" marT="95250" marB="95250">
                    <a:solidFill>
                      <a:srgbClr val="F1EEE4"/>
                    </a:solidFill>
                  </a:tcPr>
                </a:tc>
                <a:tc>
                  <a:txBody>
                    <a:bodyPr/>
                    <a:lstStyle/>
                    <a:p>
                      <a:r>
                        <a:rPr sz="1800">
                          <a:solidFill>
                            <a:srgbClr val="252527"/>
                          </a:solidFill>
                          <a:latin typeface="Arial"/>
                          <a:ea typeface="Arial"/>
                          <a:cs typeface="Arial"/>
                        </a:rPr>
                        <a:t>Verified / recorded skills × 100</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Academics</a:t>
                      </a:r>
                    </a:p>
                  </a:txBody>
                  <a:tcPr marL="114300" marR="114300" marT="95250" marB="95250">
                    <a:solidFill>
                      <a:srgbClr val="F1EEE4"/>
                    </a:solidFill>
                  </a:tcPr>
                </a:tc>
                <a:tc>
                  <a:txBody>
                    <a:bodyPr/>
                    <a:lstStyle/>
                    <a:p>
                      <a:r>
                        <a:rPr sz="1800">
                          <a:solidFill>
                            <a:srgbClr val="252527"/>
                          </a:solidFill>
                          <a:latin typeface="Arial"/>
                          <a:ea typeface="Arial"/>
                          <a:cs typeface="Arial"/>
                        </a:rPr>
                        <a:t>20%</a:t>
                      </a:r>
                    </a:p>
                  </a:txBody>
                  <a:tcPr marL="114300" marR="114300" marT="95250" marB="95250">
                    <a:solidFill>
                      <a:srgbClr val="F1EEE4"/>
                    </a:solidFill>
                  </a:tcPr>
                </a:tc>
                <a:tc>
                  <a:txBody>
                    <a:bodyPr/>
                    <a:lstStyle/>
                    <a:p>
                      <a:r>
                        <a:rPr sz="1800">
                          <a:solidFill>
                            <a:srgbClr val="252527"/>
                          </a:solidFill>
                          <a:latin typeface="Arial"/>
                          <a:ea typeface="Arial"/>
                          <a:cs typeface="Arial"/>
                        </a:rPr>
                        <a:t>CGPA × 10 − backlog penalty</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Projects</a:t>
                      </a:r>
                    </a:p>
                  </a:txBody>
                  <a:tcPr marL="114300" marR="114300" marT="95250" marB="95250">
                    <a:solidFill>
                      <a:srgbClr val="F1EEE4"/>
                    </a:solidFill>
                  </a:tcPr>
                </a:tc>
                <a:tc>
                  <a:txBody>
                    <a:bodyPr/>
                    <a:lstStyle/>
                    <a:p>
                      <a:r>
                        <a:rPr sz="1800">
                          <a:solidFill>
                            <a:srgbClr val="252527"/>
                          </a:solidFill>
                          <a:latin typeface="Arial"/>
                          <a:ea typeface="Arial"/>
                          <a:cs typeface="Arial"/>
                        </a:rPr>
                        <a:t>15%</a:t>
                      </a:r>
                    </a:p>
                  </a:txBody>
                  <a:tcPr marL="114300" marR="114300" marT="95250" marB="95250">
                    <a:solidFill>
                      <a:srgbClr val="F1EEE4"/>
                    </a:solidFill>
                  </a:tcPr>
                </a:tc>
                <a:tc>
                  <a:txBody>
                    <a:bodyPr/>
                    <a:lstStyle/>
                    <a:p>
                      <a:r>
                        <a:rPr sz="1800">
                          <a:solidFill>
                            <a:srgbClr val="252527"/>
                          </a:solidFill>
                          <a:latin typeface="Arial"/>
                          <a:ea typeface="Arial"/>
                          <a:cs typeface="Arial"/>
                        </a:rPr>
                        <a:t>Project count × 35, capped at 100</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Aptitude</a:t>
                      </a:r>
                    </a:p>
                  </a:txBody>
                  <a:tcPr marL="114300" marR="114300" marT="95250" marB="95250">
                    <a:solidFill>
                      <a:srgbClr val="F1EEE4"/>
                    </a:solidFill>
                  </a:tcPr>
                </a:tc>
                <a:tc>
                  <a:txBody>
                    <a:bodyPr/>
                    <a:lstStyle/>
                    <a:p>
                      <a:r>
                        <a:rPr sz="1800">
                          <a:solidFill>
                            <a:srgbClr val="252527"/>
                          </a:solidFill>
                          <a:latin typeface="Arial"/>
                          <a:ea typeface="Arial"/>
                          <a:cs typeface="Arial"/>
                        </a:rPr>
                        <a:t>15%</a:t>
                      </a:r>
                    </a:p>
                  </a:txBody>
                  <a:tcPr marL="114300" marR="114300" marT="95250" marB="95250">
                    <a:solidFill>
                      <a:srgbClr val="F1EEE4"/>
                    </a:solidFill>
                  </a:tcPr>
                </a:tc>
                <a:tc>
                  <a:txBody>
                    <a:bodyPr/>
                    <a:lstStyle/>
                    <a:p>
                      <a:r>
                        <a:rPr sz="1800">
                          <a:solidFill>
                            <a:srgbClr val="252527"/>
                          </a:solidFill>
                          <a:latin typeface="Arial"/>
                          <a:ea typeface="Arial"/>
                          <a:cs typeface="Arial"/>
                        </a:rPr>
                        <a:t>Mean relevant assessment score</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Communication</a:t>
                      </a:r>
                    </a:p>
                  </a:txBody>
                  <a:tcPr marL="114300" marR="114300" marT="95250" marB="95250">
                    <a:solidFill>
                      <a:srgbClr val="F1EEE4"/>
                    </a:solidFill>
                  </a:tcPr>
                </a:tc>
                <a:tc>
                  <a:txBody>
                    <a:bodyPr/>
                    <a:lstStyle/>
                    <a:p>
                      <a:r>
                        <a:rPr sz="1800">
                          <a:solidFill>
                            <a:srgbClr val="252527"/>
                          </a:solidFill>
                          <a:latin typeface="Arial"/>
                          <a:ea typeface="Arial"/>
                          <a:cs typeface="Arial"/>
                        </a:rPr>
                        <a:t>10%</a:t>
                      </a:r>
                    </a:p>
                  </a:txBody>
                  <a:tcPr marL="114300" marR="114300" marT="95250" marB="95250">
                    <a:solidFill>
                      <a:srgbClr val="F1EEE4"/>
                    </a:solidFill>
                  </a:tcPr>
                </a:tc>
                <a:tc>
                  <a:txBody>
                    <a:bodyPr/>
                    <a:lstStyle/>
                    <a:p>
                      <a:r>
                        <a:rPr sz="1800">
                          <a:solidFill>
                            <a:srgbClr val="252527"/>
                          </a:solidFill>
                          <a:latin typeface="Arial"/>
                          <a:ea typeface="Arial"/>
                          <a:cs typeface="Arial"/>
                        </a:rPr>
                        <a:t>Mean relevant assessment score</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Interview</a:t>
                      </a:r>
                    </a:p>
                  </a:txBody>
                  <a:tcPr marL="114300" marR="114300" marT="95250" marB="95250">
                    <a:solidFill>
                      <a:srgbClr val="F1EEE4"/>
                    </a:solidFill>
                  </a:tcPr>
                </a:tc>
                <a:tc>
                  <a:txBody>
                    <a:bodyPr/>
                    <a:lstStyle/>
                    <a:p>
                      <a:r>
                        <a:rPr sz="1800">
                          <a:solidFill>
                            <a:srgbClr val="252527"/>
                          </a:solidFill>
                          <a:latin typeface="Arial"/>
                          <a:ea typeface="Arial"/>
                          <a:cs typeface="Arial"/>
                        </a:rPr>
                        <a:t>10%</a:t>
                      </a:r>
                    </a:p>
                  </a:txBody>
                  <a:tcPr marL="114300" marR="114300" marT="95250" marB="95250">
                    <a:solidFill>
                      <a:srgbClr val="F1EEE4"/>
                    </a:solidFill>
                  </a:tcPr>
                </a:tc>
                <a:tc>
                  <a:txBody>
                    <a:bodyPr/>
                    <a:lstStyle/>
                    <a:p>
                      <a:r>
                        <a:rPr sz="1800">
                          <a:solidFill>
                            <a:srgbClr val="252527"/>
                          </a:solidFill>
                          <a:latin typeface="Arial"/>
                          <a:ea typeface="Arial"/>
                          <a:cs typeface="Arial"/>
                        </a:rPr>
                        <a:t>Mean relevant assessment score</a:t>
                      </a:r>
                    </a:p>
                  </a:txBody>
                  <a:tcPr marL="114300" marR="114300" marT="95250" marB="95250">
                    <a:solidFill>
                      <a:srgbClr val="F1EEE4"/>
                    </a:solidFill>
                  </a:tcPr>
                </a:tc>
              </a:tr>
            </a:tbl>
          </a:graphicData>
        </a:graphic>
      </p:graphicFrame>
      <p:sp>
        <p:nvSpPr>
          <p:cNvPr id="6" name="Readiness = sum of weighted category scores. ">
            <a:extLst xmlns:a="http://schemas.openxmlformats.org/drawingml/2006/main">
              <a:ext uri="{FF2B5EF4-FFF2-40B4-BE49-F238E27FC236}">
                <a16:creationId xmlns:a16="http://schemas.microsoft.com/office/drawing/2014/main" id="{844DD920-8821-4BDB-A11E-7727198C53F7}"/>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Readiness = sum of weighted category scores. Missing evidence contributes zero.</a:t>
            </a:r>
          </a:p>
        </p:txBody>
      </p:sp>
    </p:spTree>
    <p:extLst>
      <p:ext uri="{BB962C8B-B14F-4D97-AF65-F5344CB8AC3E}">
        <p14:creationId xmlns:p14="http://schemas.microsoft.com/office/powerpoint/2010/main" val="513222162"/>
      </p:ext>
    </p:extLst>
  </p:cSld>
</p:sld>
</file>

<file path=ppt/slides/slide7.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0" name="CAMPUSLINK">
            <a:extLst xmlns:a="http://schemas.openxmlformats.org/drawingml/2006/main">
              <a:ext uri="{FF2B5EF4-FFF2-40B4-BE49-F238E27FC236}">
                <a16:creationId xmlns:a16="http://schemas.microsoft.com/office/drawing/2014/main" id="{A38F3DC1-6356-4EE4-90C3-EFC4D97129D9}"/>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Readiness example and score interpretation">
            <a:extLst xmlns:a="http://schemas.openxmlformats.org/drawingml/2006/main">
              <a:ext uri="{FF2B5EF4-FFF2-40B4-BE49-F238E27FC236}">
                <a16:creationId xmlns:a16="http://schemas.microsoft.com/office/drawing/2014/main" id="{188C6AB4-E555-4F63-AA32-146D420C4126}"/>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Readiness example and score interpretation</a:t>
            </a:r>
          </a:p>
        </p:txBody>
      </p:sp>
      <p:sp>
        <p:nvSpPr>
          <p:cNvPr id="3" name="StartX / BPUT Hackathon 2026 / PS10">
            <a:extLst xmlns:a="http://schemas.openxmlformats.org/drawingml/2006/main">
              <a:ext uri="{FF2B5EF4-FFF2-40B4-BE49-F238E27FC236}">
                <a16:creationId xmlns:a16="http://schemas.microsoft.com/office/drawing/2014/main" id="{17A065A9-937D-41C7-8CD9-B2BEF2CD1C5F}"/>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7">
            <a:extLst xmlns:a="http://schemas.openxmlformats.org/drawingml/2006/main">
              <a:ext uri="{FF2B5EF4-FFF2-40B4-BE49-F238E27FC236}">
                <a16:creationId xmlns:a16="http://schemas.microsoft.com/office/drawing/2014/main" id="{0392565F-F24C-4CA7-91E1-C92CBBD8D8CC}"/>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07</a:t>
            </a:r>
          </a:p>
        </p:txBody>
      </p:sp>
      <p:sp>
        <p:nvSpPr>
          <p:cNvPr id="5" name="93 / 100">
            <a:extLst xmlns:a="http://schemas.openxmlformats.org/drawingml/2006/main">
              <a:ext uri="{FF2B5EF4-FFF2-40B4-BE49-F238E27FC236}">
                <a16:creationId xmlns:a16="http://schemas.microsoft.com/office/drawing/2014/main" id="{DFF1D57A-A200-4AB1-BE13-7284396FBDDA}"/>
              </a:ext>
            </a:extLst>
          </p:cNvPr>
          <p:cNvSpPr>
            <a:spLocks xmlns:a="http://schemas.openxmlformats.org/drawingml/2006/main" noGrp="1"/>
          </p:cNvSpPr>
          <p:nvPr/>
        </p:nvSpPr>
        <p:spPr>
          <a:xfrm xmlns:a="http://schemas.openxmlformats.org/drawingml/2006/main">
            <a:off x="666750" y="2105025"/>
            <a:ext cx="4476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700" b="1">
                <a:solidFill>
                  <a:srgbClr val="3C3E60"/>
                </a:solidFill>
                <a:latin typeface="Arial"/>
                <a:ea typeface="Arial"/>
                <a:cs typeface="Arial"/>
              </a:defRPr>
            </a:defPPr>
          </a:lstStyle>
          <a:p xmlns:a="http://schemas.openxmlformats.org/drawingml/2006/main">
            <a:pPr>
              <a:defRPr sz="5700" b="1">
                <a:solidFill>
                  <a:srgbClr val="3C3E60"/>
                </a:solidFill>
                <a:latin typeface="Arial"/>
                <a:ea typeface="Arial"/>
                <a:cs typeface="Arial"/>
              </a:defRPr>
            </a:pPr>
            <a:r>
              <a:rPr sz="5700" b="1">
                <a:solidFill>
                  <a:srgbClr val="3C3E60"/>
                </a:solidFill>
                <a:latin typeface="Arial"/>
                <a:ea typeface="Arial"/>
                <a:cs typeface="Arial"/>
              </a:rPr>
              <a:t>93 / 100</a:t>
            </a:r>
          </a:p>
        </p:txBody>
      </p:sp>
      <p:sp>
        <p:nvSpPr>
          <p:cNvPr id="6" name="Highly Employable">
            <a:extLst xmlns:a="http://schemas.openxmlformats.org/drawingml/2006/main">
              <a:ext uri="{FF2B5EF4-FFF2-40B4-BE49-F238E27FC236}">
                <a16:creationId xmlns:a16="http://schemas.microsoft.com/office/drawing/2014/main" id="{21C40634-FADD-4DE0-A9E5-0296F872A3B8}"/>
              </a:ext>
            </a:extLst>
          </p:cNvPr>
          <p:cNvSpPr>
            <a:spLocks xmlns:a="http://schemas.openxmlformats.org/drawingml/2006/main" noGrp="1"/>
          </p:cNvSpPr>
          <p:nvPr/>
        </p:nvSpPr>
        <p:spPr>
          <a:xfrm xmlns:a="http://schemas.openxmlformats.org/drawingml/2006/main">
            <a:off x="666750" y="3162300"/>
            <a:ext cx="4667250" cy="47625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400" b="1">
                <a:solidFill>
                  <a:srgbClr val="3C3E60"/>
                </a:solidFill>
                <a:latin typeface="Arial"/>
                <a:ea typeface="Arial"/>
                <a:cs typeface="Arial"/>
              </a:defRPr>
            </a:defPPr>
          </a:lstStyle>
          <a:p xmlns:a="http://schemas.openxmlformats.org/drawingml/2006/main">
            <a:pPr>
              <a:defRPr sz="2400" b="1">
                <a:solidFill>
                  <a:srgbClr val="3C3E60"/>
                </a:solidFill>
                <a:latin typeface="Arial"/>
                <a:ea typeface="Arial"/>
                <a:cs typeface="Arial"/>
              </a:defRPr>
            </a:pPr>
            <a:r>
              <a:rPr sz="2400" b="1">
                <a:solidFill>
                  <a:srgbClr val="3C3E60"/>
                </a:solidFill>
                <a:latin typeface="Arial"/>
                <a:ea typeface="Arial"/>
                <a:cs typeface="Arial"/>
              </a:rPr>
              <a:t>Highly Employable</a:t>
            </a:r>
          </a:p>
        </p:txBody>
      </p:sp>
      <p:sp>
        <p:nvSpPr>
          <p:cNvPr id="7" name="30 + 18 + 15 + 12.75&#10;+ 8.5 + 8.5 = 92.75">
            <a:extLst xmlns:a="http://schemas.openxmlformats.org/drawingml/2006/main">
              <a:ext uri="{FF2B5EF4-FFF2-40B4-BE49-F238E27FC236}">
                <a16:creationId xmlns:a16="http://schemas.microsoft.com/office/drawing/2014/main" id="{DA8B6291-D687-4DF4-8EF6-9C8345BD0E22}"/>
              </a:ext>
            </a:extLst>
          </p:cNvPr>
          <p:cNvSpPr>
            <a:spLocks xmlns:a="http://schemas.openxmlformats.org/drawingml/2006/main" noGrp="1"/>
          </p:cNvSpPr>
          <p:nvPr/>
        </p:nvSpPr>
        <p:spPr>
          <a:xfrm xmlns:a="http://schemas.openxmlformats.org/drawingml/2006/main">
            <a:off x="666750" y="3924300"/>
            <a:ext cx="48577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400" b="0">
                <a:solidFill>
                  <a:srgbClr val="252527"/>
                </a:solidFill>
                <a:latin typeface="Arial"/>
                <a:ea typeface="Arial"/>
                <a:cs typeface="Arial"/>
              </a:defRPr>
            </a:defPPr>
          </a:lstStyle>
          <a:p xmlns:a="http://schemas.openxmlformats.org/drawingml/2006/main">
            <a:pPr>
              <a:defRPr sz="2400" b="0">
                <a:solidFill>
                  <a:srgbClr val="252527"/>
                </a:solidFill>
                <a:latin typeface="Arial"/>
                <a:ea typeface="Arial"/>
                <a:cs typeface="Arial"/>
              </a:defRPr>
            </a:pPr>
            <a:r>
              <a:rPr sz="2400" b="0">
                <a:solidFill>
                  <a:srgbClr val="252527"/>
                </a:solidFill>
                <a:latin typeface="Arial"/>
                <a:ea typeface="Arial"/>
                <a:cs typeface="Arial"/>
              </a:rPr>
              <a:t>30 + 18 + 15 + 12.75</a:t>
            </a:r>
          </a:p>
          <a:p xmlns:a="http://schemas.openxmlformats.org/drawingml/2006/main">
            <a:pPr>
              <a:defRPr sz="2400" b="0">
                <a:solidFill>
                  <a:srgbClr val="252527"/>
                </a:solidFill>
                <a:latin typeface="Arial"/>
                <a:ea typeface="Arial"/>
                <a:cs typeface="Arial"/>
              </a:defRPr>
            </a:pPr>
            <a:r>
              <a:rPr sz="2400" b="0">
                <a:solidFill>
                  <a:srgbClr val="252527"/>
                </a:solidFill>
                <a:latin typeface="Arial"/>
                <a:ea typeface="Arial"/>
                <a:cs typeface="Arial"/>
              </a:rPr>
              <a:t>+ 8.5 + 8.5 = 92.75</a:t>
            </a:r>
          </a:p>
        </p:txBody>
      </p:sp>
      <p:graphicFrame>
        <p:nvGraphicFramePr>
          <p:cNvPr id="8" name="">
            <a:extLst xmlns:a="http://schemas.openxmlformats.org/drawingml/2006/main">
              <a:ext uri="{FF2B5EF4-FFF2-40B4-BE49-F238E27FC236}">
                <a16:creationId xmlns:a16="http://schemas.microsoft.com/office/drawing/2014/main" id="{4ED0E0E4-BE21-42D6-A55A-2759B36C382E}"/>
              </a:ext>
            </a:extLst>
          </p:cNvPr>
          <p:cNvGraphicFramePr/>
          <p:nvPr/>
        </p:nvGraphicFramePr>
        <p:xfrm>
          <a:off xmlns:a="http://schemas.openxmlformats.org/drawingml/2006/main" x="6238875" y="2105025"/>
          <a:ext xmlns:a="http://schemas.openxmlformats.org/drawingml/2006/main" cx="5238750" cy="3190875"/>
        </p:xfrm>
        <a:graphic xmlns:a="http://schemas.openxmlformats.org/drawingml/2006/main">
          <a:graphicData uri="http://schemas.openxmlformats.org/drawingml/2006/table">
            <a:tbl>
              <a:tblPr/>
              <a:tblGrid>
                <a:gridCol w="1714500"/>
                <a:gridCol w="3524250"/>
              </a:tblGrid>
              <a:tr h="638175">
                <a:tc>
                  <a:txBody>
                    <a:bodyPr/>
                    <a:lstStyle/>
                    <a:p>
                      <a:r>
                        <a:rPr sz="1800" b="1">
                          <a:solidFill>
                            <a:srgbClr val="3C3E60"/>
                          </a:solidFill>
                          <a:latin typeface="Arial"/>
                          <a:ea typeface="Arial"/>
                          <a:cs typeface="Arial"/>
                        </a:rPr>
                        <a:t>Score range</a:t>
                      </a:r>
                    </a:p>
                  </a:txBody>
                  <a:tcPr marL="114300" marR="114300" marT="95250" marB="95250">
                    <a:solidFill>
                      <a:srgbClr val="CDC2DB"/>
                    </a:solidFill>
                  </a:tcPr>
                </a:tc>
                <a:tc>
                  <a:txBody>
                    <a:bodyPr/>
                    <a:lstStyle/>
                    <a:p>
                      <a:r>
                        <a:rPr sz="1800" b="1">
                          <a:solidFill>
                            <a:srgbClr val="3C3E60"/>
                          </a:solidFill>
                          <a:latin typeface="Arial"/>
                          <a:ea typeface="Arial"/>
                          <a:cs typeface="Arial"/>
                        </a:rPr>
                        <a:t>Readiness level</a:t>
                      </a:r>
                    </a:p>
                  </a:txBody>
                  <a:tcPr marL="114300" marR="114300" marT="95250" marB="95250">
                    <a:solidFill>
                      <a:srgbClr val="CDC2DB"/>
                    </a:solidFill>
                  </a:tcPr>
                </a:tc>
              </a:tr>
              <a:tr h="638175">
                <a:tc>
                  <a:txBody>
                    <a:bodyPr/>
                    <a:lstStyle/>
                    <a:p>
                      <a:r>
                        <a:rPr sz="1800">
                          <a:solidFill>
                            <a:srgbClr val="252527"/>
                          </a:solidFill>
                          <a:latin typeface="Arial"/>
                          <a:ea typeface="Arial"/>
                          <a:cs typeface="Arial"/>
                        </a:rPr>
                        <a:t>0–44</a:t>
                      </a:r>
                    </a:p>
                  </a:txBody>
                  <a:tcPr marL="114300" marR="114300" marT="95250" marB="95250">
                    <a:solidFill>
                      <a:srgbClr val="F1EEE4"/>
                    </a:solidFill>
                  </a:tcPr>
                </a:tc>
                <a:tc>
                  <a:txBody>
                    <a:bodyPr/>
                    <a:lstStyle/>
                    <a:p>
                      <a:r>
                        <a:rPr sz="1800">
                          <a:solidFill>
                            <a:srgbClr val="252527"/>
                          </a:solidFill>
                          <a:latin typeface="Arial"/>
                          <a:ea typeface="Arial"/>
                          <a:cs typeface="Arial"/>
                        </a:rPr>
                        <a:t>Not Ready</a:t>
                      </a:r>
                    </a:p>
                  </a:txBody>
                  <a:tcPr marL="114300" marR="114300" marT="95250" marB="95250">
                    <a:solidFill>
                      <a:srgbClr val="F1EEE4"/>
                    </a:solidFill>
                  </a:tcPr>
                </a:tc>
              </a:tr>
              <a:tr h="638175">
                <a:tc>
                  <a:txBody>
                    <a:bodyPr/>
                    <a:lstStyle/>
                    <a:p>
                      <a:r>
                        <a:rPr sz="1800">
                          <a:solidFill>
                            <a:srgbClr val="252527"/>
                          </a:solidFill>
                          <a:latin typeface="Arial"/>
                          <a:ea typeface="Arial"/>
                          <a:cs typeface="Arial"/>
                        </a:rPr>
                        <a:t>45–69</a:t>
                      </a:r>
                    </a:p>
                  </a:txBody>
                  <a:tcPr marL="114300" marR="114300" marT="95250" marB="95250">
                    <a:solidFill>
                      <a:srgbClr val="F1EEE4"/>
                    </a:solidFill>
                  </a:tcPr>
                </a:tc>
                <a:tc>
                  <a:txBody>
                    <a:bodyPr/>
                    <a:lstStyle/>
                    <a:p>
                      <a:r>
                        <a:rPr sz="1800">
                          <a:solidFill>
                            <a:srgbClr val="252527"/>
                          </a:solidFill>
                          <a:latin typeface="Arial"/>
                          <a:ea typeface="Arial"/>
                          <a:cs typeface="Arial"/>
                        </a:rPr>
                        <a:t>Developing</a:t>
                      </a:r>
                    </a:p>
                  </a:txBody>
                  <a:tcPr marL="114300" marR="114300" marT="95250" marB="95250">
                    <a:solidFill>
                      <a:srgbClr val="F1EEE4"/>
                    </a:solidFill>
                  </a:tcPr>
                </a:tc>
              </a:tr>
              <a:tr h="638175">
                <a:tc>
                  <a:txBody>
                    <a:bodyPr/>
                    <a:lstStyle/>
                    <a:p>
                      <a:r>
                        <a:rPr sz="1800">
                          <a:solidFill>
                            <a:srgbClr val="252527"/>
                          </a:solidFill>
                          <a:latin typeface="Arial"/>
                          <a:ea typeface="Arial"/>
                          <a:cs typeface="Arial"/>
                        </a:rPr>
                        <a:t>70–84</a:t>
                      </a:r>
                    </a:p>
                  </a:txBody>
                  <a:tcPr marL="114300" marR="114300" marT="95250" marB="95250">
                    <a:solidFill>
                      <a:srgbClr val="F1EEE4"/>
                    </a:solidFill>
                  </a:tcPr>
                </a:tc>
                <a:tc>
                  <a:txBody>
                    <a:bodyPr/>
                    <a:lstStyle/>
                    <a:p>
                      <a:r>
                        <a:rPr sz="1800">
                          <a:solidFill>
                            <a:srgbClr val="252527"/>
                          </a:solidFill>
                          <a:latin typeface="Arial"/>
                          <a:ea typeface="Arial"/>
                          <a:cs typeface="Arial"/>
                        </a:rPr>
                        <a:t>Ready</a:t>
                      </a:r>
                    </a:p>
                  </a:txBody>
                  <a:tcPr marL="114300" marR="114300" marT="95250" marB="95250">
                    <a:solidFill>
                      <a:srgbClr val="F1EEE4"/>
                    </a:solidFill>
                  </a:tcPr>
                </a:tc>
              </a:tr>
              <a:tr h="638175">
                <a:tc>
                  <a:txBody>
                    <a:bodyPr/>
                    <a:lstStyle/>
                    <a:p>
                      <a:r>
                        <a:rPr sz="1800">
                          <a:solidFill>
                            <a:srgbClr val="252527"/>
                          </a:solidFill>
                          <a:latin typeface="Arial"/>
                          <a:ea typeface="Arial"/>
                          <a:cs typeface="Arial"/>
                        </a:rPr>
                        <a:t>85–100</a:t>
                      </a:r>
                    </a:p>
                  </a:txBody>
                  <a:tcPr marL="114300" marR="114300" marT="95250" marB="95250">
                    <a:solidFill>
                      <a:srgbClr val="F1EEE4"/>
                    </a:solidFill>
                  </a:tcPr>
                </a:tc>
                <a:tc>
                  <a:txBody>
                    <a:bodyPr/>
                    <a:lstStyle/>
                    <a:p>
                      <a:r>
                        <a:rPr sz="1800">
                          <a:solidFill>
                            <a:srgbClr val="252527"/>
                          </a:solidFill>
                          <a:latin typeface="Arial"/>
                          <a:ea typeface="Arial"/>
                          <a:cs typeface="Arial"/>
                        </a:rPr>
                        <a:t>Highly Employable</a:t>
                      </a:r>
                    </a:p>
                  </a:txBody>
                  <a:tcPr marL="114300" marR="114300" marT="95250" marB="95250">
                    <a:solidFill>
                      <a:srgbClr val="F1EEE4"/>
                    </a:solidFill>
                  </a:tcPr>
                </a:tc>
              </a:tr>
            </a:tbl>
          </a:graphicData>
        </a:graphic>
      </p:graphicFrame>
      <p:sp>
        <p:nvSpPr>
          <p:cNvPr id="9" name="This readiness rubric summarizes recorded evi">
            <a:extLst xmlns:a="http://schemas.openxmlformats.org/drawingml/2006/main">
              <a:ext uri="{FF2B5EF4-FFF2-40B4-BE49-F238E27FC236}">
                <a16:creationId xmlns:a16="http://schemas.microsoft.com/office/drawing/2014/main" id="{BD39C3FA-0C1D-41C7-B69D-9B664FB6E2DB}"/>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This readiness rubric summarizes recorded evidence. Outcome validation remains pending.</a:t>
            </a:r>
          </a:p>
        </p:txBody>
      </p:sp>
    </p:spTree>
    <p:extLst>
      <p:ext uri="{BB962C8B-B14F-4D97-AF65-F5344CB8AC3E}">
        <p14:creationId xmlns:p14="http://schemas.microsoft.com/office/powerpoint/2010/main" val="947119837"/>
      </p:ext>
    </p:extLst>
  </p:cSld>
</p:sld>
</file>

<file path=ppt/slides/slide8.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F91BE688-9BF1-47FB-8DA4-02DB388F2C14}"/>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Eligibility gates">
            <a:extLst xmlns:a="http://schemas.openxmlformats.org/drawingml/2006/main">
              <a:ext uri="{FF2B5EF4-FFF2-40B4-BE49-F238E27FC236}">
                <a16:creationId xmlns:a16="http://schemas.microsoft.com/office/drawing/2014/main" id="{4396CE33-E6AA-429A-AD97-7C23CBFF5EBF}"/>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Eligibility gates</a:t>
            </a:r>
          </a:p>
        </p:txBody>
      </p:sp>
      <p:sp>
        <p:nvSpPr>
          <p:cNvPr id="3" name="StartX / BPUT Hackathon 2026 / PS10">
            <a:extLst xmlns:a="http://schemas.openxmlformats.org/drawingml/2006/main">
              <a:ext uri="{FF2B5EF4-FFF2-40B4-BE49-F238E27FC236}">
                <a16:creationId xmlns:a16="http://schemas.microsoft.com/office/drawing/2014/main" id="{122BA00B-F7DC-4E74-AC8F-C5E9D40F97F3}"/>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8">
            <a:extLst xmlns:a="http://schemas.openxmlformats.org/drawingml/2006/main">
              <a:ext uri="{FF2B5EF4-FFF2-40B4-BE49-F238E27FC236}">
                <a16:creationId xmlns:a16="http://schemas.microsoft.com/office/drawing/2014/main" id="{F352AD1D-1994-45B6-B3FC-59A9AEA7A854}"/>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08</a:t>
            </a:r>
          </a:p>
        </p:txBody>
      </p:sp>
      <p:sp>
        <p:nvSpPr>
          <p:cNvPr id="5" name="">
            <a:extLst xmlns:a="http://schemas.openxmlformats.org/drawingml/2006/main">
              <a:ext uri="{FF2B5EF4-FFF2-40B4-BE49-F238E27FC236}">
                <a16:creationId xmlns:a16="http://schemas.microsoft.com/office/drawing/2014/main" id="{4F5CF165-9FD8-4A76-9119-E90A070C7B56}"/>
              </a:ext>
            </a:extLst>
          </p:cNvPr>
          <p:cNvSpPr>
            <a:spLocks xmlns:a="http://schemas.openxmlformats.org/drawingml/2006/main" noGrp="1"/>
          </p:cNvSpPr>
          <p:nvPr/>
        </p:nvSpPr>
        <p:spPr>
          <a:xfrm xmlns:a="http://schemas.openxmlformats.org/drawingml/2006/main">
            <a:off x="666750" y="2047875"/>
            <a:ext cx="10810875" cy="3467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Check registered campus, course, branch and graduation year.</a:t>
            </a:r>
          </a:p>
          <a:p xmlns:a="http://schemas.openxmlformats.org/drawingml/2006/main">
            <a:pPr marL="254000" indent="-127000">
              <a:spcAft>
                <a:spcPts val="1700"/>
              </a:spcAft>
              <a:buChar char="•"/>
              <a:defRPr sz="2100" b="0">
                <a:solidFill>
                  <a:srgbClr val="252527"/>
                </a:solidFill>
                <a:latin typeface="Arial"/>
                <a:ea typeface="Arial"/>
                <a:cs typeface="Arial"/>
              </a:defRPr>
            </a:pPr>
            <a:r>
              <a:t>Compare CGPA and active backlogs with recruiter limits.</a:t>
            </a:r>
          </a:p>
          <a:p xmlns:a="http://schemas.openxmlformats.org/drawingml/2006/main">
            <a:pPr marL="254000" indent="-127000">
              <a:spcAft>
                <a:spcPts val="1700"/>
              </a:spcAft>
              <a:buChar char="•"/>
              <a:defRPr sz="2100" b="0">
                <a:solidFill>
                  <a:srgbClr val="252527"/>
                </a:solidFill>
                <a:latin typeface="Arial"/>
                <a:ea typeface="Arial"/>
                <a:cs typeface="Arial"/>
              </a:defRPr>
            </a:pPr>
            <a:r>
              <a:t>Require recorded skills when the drive enables mandatory skills.</a:t>
            </a:r>
          </a:p>
          <a:p xmlns:a="http://schemas.openxmlformats.org/drawingml/2006/main">
            <a:pPr marL="254000" indent="-127000">
              <a:spcAft>
                <a:spcPts val="1700"/>
              </a:spcAft>
              <a:buChar char="•"/>
              <a:defRPr sz="2100" b="0">
                <a:solidFill>
                  <a:srgbClr val="252527"/>
                </a:solidFill>
                <a:latin typeface="Arial"/>
                <a:ea typeface="Arial"/>
                <a:cs typeface="Arial"/>
              </a:defRPr>
            </a:pPr>
            <a:r>
              <a:t>Require campus verification for extra recruiter conditions.</a:t>
            </a:r>
          </a:p>
          <a:p xmlns:a="http://schemas.openxmlformats.org/drawingml/2006/main">
            <a:pPr marL="254000" indent="-127000">
              <a:spcAft>
                <a:spcPts val="1700"/>
              </a:spcAft>
              <a:buChar char="•"/>
              <a:defRPr sz="2100" b="0">
                <a:solidFill>
                  <a:srgbClr val="252527"/>
                </a:solidFill>
                <a:latin typeface="Arial"/>
                <a:ea typeface="Arial"/>
                <a:cs typeface="Arial"/>
              </a:defRPr>
            </a:pPr>
            <a:r>
              <a:t>Assign zero fit and hybrid score when a mandatory gate fails.</a:t>
            </a:r>
          </a:p>
        </p:txBody>
      </p:sp>
      <p:sp>
        <p:nvSpPr>
          <p:cNvPr id="6" name="A high readiness score cannot override a fail">
            <a:extLst xmlns:a="http://schemas.openxmlformats.org/drawingml/2006/main">
              <a:ext uri="{FF2B5EF4-FFF2-40B4-BE49-F238E27FC236}">
                <a16:creationId xmlns:a16="http://schemas.microsoft.com/office/drawing/2014/main" id="{6AC861C4-5E59-41EA-8313-346435C82734}"/>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A high readiness score cannot override a failed eligibility condition.</a:t>
            </a:r>
          </a:p>
        </p:txBody>
      </p:sp>
    </p:spTree>
    <p:extLst>
      <p:ext uri="{BB962C8B-B14F-4D97-AF65-F5344CB8AC3E}">
        <p14:creationId xmlns:p14="http://schemas.microsoft.com/office/powerpoint/2010/main" val="1337795026"/>
      </p:ext>
    </p:extLst>
  </p:cSld>
</p:sld>
</file>

<file path=ppt/slides/slide9.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87D31FC9-600F-4399-93A8-C35A45A010D3}"/>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Job-specific candidate fit">
            <a:extLst xmlns:a="http://schemas.openxmlformats.org/drawingml/2006/main">
              <a:ext uri="{FF2B5EF4-FFF2-40B4-BE49-F238E27FC236}">
                <a16:creationId xmlns:a16="http://schemas.microsoft.com/office/drawing/2014/main" id="{47CD5B58-7FD1-46D7-8B98-C0ED9D5FFBDA}"/>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Job-specific candidate fit</a:t>
            </a:r>
          </a:p>
        </p:txBody>
      </p:sp>
      <p:sp>
        <p:nvSpPr>
          <p:cNvPr id="3" name="StartX / BPUT Hackathon 2026 / PS10">
            <a:extLst xmlns:a="http://schemas.openxmlformats.org/drawingml/2006/main">
              <a:ext uri="{FF2B5EF4-FFF2-40B4-BE49-F238E27FC236}">
                <a16:creationId xmlns:a16="http://schemas.microsoft.com/office/drawing/2014/main" id="{DA01BB9B-047C-41A6-8568-EB6157057B28}"/>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09">
            <a:extLst xmlns:a="http://schemas.openxmlformats.org/drawingml/2006/main">
              <a:ext uri="{FF2B5EF4-FFF2-40B4-BE49-F238E27FC236}">
                <a16:creationId xmlns:a16="http://schemas.microsoft.com/office/drawing/2014/main" id="{B80CD432-3470-445D-A453-C1B8039BE553}"/>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09</a:t>
            </a:r>
          </a:p>
        </p:txBody>
      </p:sp>
      <p:graphicFrame>
        <p:nvGraphicFramePr>
          <p:cNvPr id="5" name="">
            <a:extLst xmlns:a="http://schemas.openxmlformats.org/drawingml/2006/main">
              <a:ext uri="{FF2B5EF4-FFF2-40B4-BE49-F238E27FC236}">
                <a16:creationId xmlns:a16="http://schemas.microsoft.com/office/drawing/2014/main" id="{0EE05D59-188D-4A17-A3EA-FCB099060DE6}"/>
              </a:ext>
            </a:extLst>
          </p:cNvPr>
          <p:cNvGraphicFramePr/>
          <p:nvPr/>
        </p:nvGraphicFramePr>
        <p:xfrm>
          <a:off xmlns:a="http://schemas.openxmlformats.org/drawingml/2006/main" x="666750" y="2009775"/>
          <a:ext xmlns:a="http://schemas.openxmlformats.org/drawingml/2006/main" cx="10839450" cy="3448050"/>
        </p:xfrm>
        <a:graphic xmlns:a="http://schemas.openxmlformats.org/drawingml/2006/main">
          <a:graphicData uri="http://schemas.openxmlformats.org/drawingml/2006/table">
            <a:tbl>
              <a:tblPr/>
              <a:tblGrid>
                <a:gridCol w="3095625"/>
                <a:gridCol w="1238250"/>
                <a:gridCol w="6505575"/>
              </a:tblGrid>
              <a:tr h="492579">
                <a:tc>
                  <a:txBody>
                    <a:bodyPr/>
                    <a:lstStyle/>
                    <a:p>
                      <a:r>
                        <a:rPr sz="1800" b="1">
                          <a:solidFill>
                            <a:srgbClr val="3C3E60"/>
                          </a:solidFill>
                          <a:latin typeface="Arial"/>
                          <a:ea typeface="Arial"/>
                          <a:cs typeface="Arial"/>
                        </a:rPr>
                        <a:t>Fit factor</a:t>
                      </a:r>
                    </a:p>
                  </a:txBody>
                  <a:tcPr marL="114300" marR="114300" marT="95250" marB="95250">
                    <a:solidFill>
                      <a:srgbClr val="CDC2DB"/>
                    </a:solidFill>
                  </a:tcPr>
                </a:tc>
                <a:tc>
                  <a:txBody>
                    <a:bodyPr/>
                    <a:lstStyle/>
                    <a:p>
                      <a:r>
                        <a:rPr sz="1800" b="1">
                          <a:solidFill>
                            <a:srgbClr val="3C3E60"/>
                          </a:solidFill>
                          <a:latin typeface="Arial"/>
                          <a:ea typeface="Arial"/>
                          <a:cs typeface="Arial"/>
                        </a:rPr>
                        <a:t>Weight</a:t>
                      </a:r>
                    </a:p>
                  </a:txBody>
                  <a:tcPr marL="114300" marR="114300" marT="95250" marB="95250">
                    <a:solidFill>
                      <a:srgbClr val="CDC2DB"/>
                    </a:solidFill>
                  </a:tcPr>
                </a:tc>
                <a:tc>
                  <a:txBody>
                    <a:bodyPr/>
                    <a:lstStyle/>
                    <a:p>
                      <a:r>
                        <a:rPr sz="1800" b="1">
                          <a:solidFill>
                            <a:srgbClr val="3C3E60"/>
                          </a:solidFill>
                          <a:latin typeface="Arial"/>
                          <a:ea typeface="Arial"/>
                          <a:cs typeface="Arial"/>
                        </a:rPr>
                        <a:t>Evidence</a:t>
                      </a:r>
                    </a:p>
                  </a:txBody>
                  <a:tcPr marL="114300" marR="114300" marT="95250" marB="95250">
                    <a:solidFill>
                      <a:srgbClr val="CDC2DB"/>
                    </a:solidFill>
                  </a:tcPr>
                </a:tc>
              </a:tr>
              <a:tr h="492579">
                <a:tc>
                  <a:txBody>
                    <a:bodyPr/>
                    <a:lstStyle/>
                    <a:p>
                      <a:r>
                        <a:rPr sz="1800">
                          <a:solidFill>
                            <a:srgbClr val="252527"/>
                          </a:solidFill>
                          <a:latin typeface="Arial"/>
                          <a:ea typeface="Arial"/>
                          <a:cs typeface="Arial"/>
                        </a:rPr>
                        <a:t>Required skill alignment</a:t>
                      </a:r>
                    </a:p>
                  </a:txBody>
                  <a:tcPr marL="114300" marR="114300" marT="95250" marB="95250">
                    <a:solidFill>
                      <a:srgbClr val="F1EEE4"/>
                    </a:solidFill>
                  </a:tcPr>
                </a:tc>
                <a:tc>
                  <a:txBody>
                    <a:bodyPr/>
                    <a:lstStyle/>
                    <a:p>
                      <a:r>
                        <a:rPr sz="1800">
                          <a:solidFill>
                            <a:srgbClr val="252527"/>
                          </a:solidFill>
                          <a:latin typeface="Arial"/>
                          <a:ea typeface="Arial"/>
                          <a:cs typeface="Arial"/>
                        </a:rPr>
                        <a:t>35%</a:t>
                      </a:r>
                    </a:p>
                  </a:txBody>
                  <a:tcPr marL="114300" marR="114300" marT="95250" marB="95250">
                    <a:solidFill>
                      <a:srgbClr val="F1EEE4"/>
                    </a:solidFill>
                  </a:tcPr>
                </a:tc>
                <a:tc>
                  <a:txBody>
                    <a:bodyPr/>
                    <a:lstStyle/>
                    <a:p>
                      <a:r>
                        <a:rPr sz="1800">
                          <a:solidFill>
                            <a:srgbClr val="252527"/>
                          </a:solidFill>
                          <a:latin typeface="Arial"/>
                          <a:ea typeface="Arial"/>
                          <a:cs typeface="Arial"/>
                        </a:rPr>
                        <a:t>Verified: full credit, unverified: half credit</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Preferred skills</a:t>
                      </a:r>
                    </a:p>
                  </a:txBody>
                  <a:tcPr marL="114300" marR="114300" marT="95250" marB="95250">
                    <a:solidFill>
                      <a:srgbClr val="F1EEE4"/>
                    </a:solidFill>
                  </a:tcPr>
                </a:tc>
                <a:tc>
                  <a:txBody>
                    <a:bodyPr/>
                    <a:lstStyle/>
                    <a:p>
                      <a:r>
                        <a:rPr sz="1800">
                          <a:solidFill>
                            <a:srgbClr val="252527"/>
                          </a:solidFill>
                          <a:latin typeface="Arial"/>
                          <a:ea typeface="Arial"/>
                          <a:cs typeface="Arial"/>
                        </a:rPr>
                        <a:t>10%</a:t>
                      </a:r>
                    </a:p>
                  </a:txBody>
                  <a:tcPr marL="114300" marR="114300" marT="95250" marB="95250">
                    <a:solidFill>
                      <a:srgbClr val="F1EEE4"/>
                    </a:solidFill>
                  </a:tcPr>
                </a:tc>
                <a:tc>
                  <a:txBody>
                    <a:bodyPr/>
                    <a:lstStyle/>
                    <a:p>
                      <a:r>
                        <a:rPr sz="1800">
                          <a:solidFill>
                            <a:srgbClr val="252527"/>
                          </a:solidFill>
                          <a:latin typeface="Arial"/>
                          <a:ea typeface="Arial"/>
                          <a:cs typeface="Arial"/>
                        </a:rPr>
                        <a:t>Recorded skill presence</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Assessments</a:t>
                      </a:r>
                    </a:p>
                  </a:txBody>
                  <a:tcPr marL="114300" marR="114300" marT="95250" marB="95250">
                    <a:solidFill>
                      <a:srgbClr val="F1EEE4"/>
                    </a:solidFill>
                  </a:tcPr>
                </a:tc>
                <a:tc>
                  <a:txBody>
                    <a:bodyPr/>
                    <a:lstStyle/>
                    <a:p>
                      <a:r>
                        <a:rPr sz="1800">
                          <a:solidFill>
                            <a:srgbClr val="252527"/>
                          </a:solidFill>
                          <a:latin typeface="Arial"/>
                          <a:ea typeface="Arial"/>
                          <a:cs typeface="Arial"/>
                        </a:rPr>
                        <a:t>20%</a:t>
                      </a:r>
                    </a:p>
                  </a:txBody>
                  <a:tcPr marL="114300" marR="114300" marT="95250" marB="95250">
                    <a:solidFill>
                      <a:srgbClr val="F1EEE4"/>
                    </a:solidFill>
                  </a:tcPr>
                </a:tc>
                <a:tc>
                  <a:txBody>
                    <a:bodyPr/>
                    <a:lstStyle/>
                    <a:p>
                      <a:r>
                        <a:rPr sz="1800">
                          <a:solidFill>
                            <a:srgbClr val="252527"/>
                          </a:solidFill>
                          <a:latin typeface="Arial"/>
                          <a:ea typeface="Arial"/>
                          <a:cs typeface="Arial"/>
                        </a:rPr>
                        <a:t>Mean recorded assessment score</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Relevant projects</a:t>
                      </a:r>
                    </a:p>
                  </a:txBody>
                  <a:tcPr marL="114300" marR="114300" marT="95250" marB="95250">
                    <a:solidFill>
                      <a:srgbClr val="F1EEE4"/>
                    </a:solidFill>
                  </a:tcPr>
                </a:tc>
                <a:tc>
                  <a:txBody>
                    <a:bodyPr/>
                    <a:lstStyle/>
                    <a:p>
                      <a:r>
                        <a:rPr sz="1800">
                          <a:solidFill>
                            <a:srgbClr val="252527"/>
                          </a:solidFill>
                          <a:latin typeface="Arial"/>
                          <a:ea typeface="Arial"/>
                          <a:cs typeface="Arial"/>
                        </a:rPr>
                        <a:t>15%</a:t>
                      </a:r>
                    </a:p>
                  </a:txBody>
                  <a:tcPr marL="114300" marR="114300" marT="95250" marB="95250">
                    <a:solidFill>
                      <a:srgbClr val="F1EEE4"/>
                    </a:solidFill>
                  </a:tcPr>
                </a:tc>
                <a:tc>
                  <a:txBody>
                    <a:bodyPr/>
                    <a:lstStyle/>
                    <a:p>
                      <a:r>
                        <a:rPr sz="1800">
                          <a:solidFill>
                            <a:srgbClr val="252527"/>
                          </a:solidFill>
                          <a:latin typeface="Arial"/>
                          <a:ea typeface="Arial"/>
                          <a:cs typeface="Arial"/>
                        </a:rPr>
                        <a:t>Matching project count, capped at 100</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Certifications</a:t>
                      </a:r>
                    </a:p>
                  </a:txBody>
                  <a:tcPr marL="114300" marR="114300" marT="95250" marB="95250">
                    <a:solidFill>
                      <a:srgbClr val="F1EEE4"/>
                    </a:solidFill>
                  </a:tcPr>
                </a:tc>
                <a:tc>
                  <a:txBody>
                    <a:bodyPr/>
                    <a:lstStyle/>
                    <a:p>
                      <a:r>
                        <a:rPr sz="1800">
                          <a:solidFill>
                            <a:srgbClr val="252527"/>
                          </a:solidFill>
                          <a:latin typeface="Arial"/>
                          <a:ea typeface="Arial"/>
                          <a:cs typeface="Arial"/>
                        </a:rPr>
                        <a:t>5%</a:t>
                      </a:r>
                    </a:p>
                  </a:txBody>
                  <a:tcPr marL="114300" marR="114300" marT="95250" marB="95250">
                    <a:solidFill>
                      <a:srgbClr val="F1EEE4"/>
                    </a:solidFill>
                  </a:tcPr>
                </a:tc>
                <a:tc>
                  <a:txBody>
                    <a:bodyPr/>
                    <a:lstStyle/>
                    <a:p>
                      <a:r>
                        <a:rPr sz="1800">
                          <a:solidFill>
                            <a:srgbClr val="252527"/>
                          </a:solidFill>
                          <a:latin typeface="Arial"/>
                          <a:ea typeface="Arial"/>
                          <a:cs typeface="Arial"/>
                        </a:rPr>
                        <a:t>Recorded certification count, capped at 100</a:t>
                      </a:r>
                    </a:p>
                  </a:txBody>
                  <a:tcPr marL="114300" marR="114300" marT="95250" marB="95250">
                    <a:solidFill>
                      <a:srgbClr val="F1EEE4"/>
                    </a:solidFill>
                  </a:tcPr>
                </a:tc>
              </a:tr>
              <a:tr h="492579">
                <a:tc>
                  <a:txBody>
                    <a:bodyPr/>
                    <a:lstStyle/>
                    <a:p>
                      <a:r>
                        <a:rPr sz="1800">
                          <a:solidFill>
                            <a:srgbClr val="252527"/>
                          </a:solidFill>
                          <a:latin typeface="Arial"/>
                          <a:ea typeface="Arial"/>
                          <a:cs typeface="Arial"/>
                        </a:rPr>
                        <a:t>Academics</a:t>
                      </a:r>
                    </a:p>
                  </a:txBody>
                  <a:tcPr marL="114300" marR="114300" marT="95250" marB="95250">
                    <a:solidFill>
                      <a:srgbClr val="F1EEE4"/>
                    </a:solidFill>
                  </a:tcPr>
                </a:tc>
                <a:tc>
                  <a:txBody>
                    <a:bodyPr/>
                    <a:lstStyle/>
                    <a:p>
                      <a:r>
                        <a:rPr sz="1800">
                          <a:solidFill>
                            <a:srgbClr val="252527"/>
                          </a:solidFill>
                          <a:latin typeface="Arial"/>
                          <a:ea typeface="Arial"/>
                          <a:cs typeface="Arial"/>
                        </a:rPr>
                        <a:t>15%</a:t>
                      </a:r>
                    </a:p>
                  </a:txBody>
                  <a:tcPr marL="114300" marR="114300" marT="95250" marB="95250">
                    <a:solidFill>
                      <a:srgbClr val="F1EEE4"/>
                    </a:solidFill>
                  </a:tcPr>
                </a:tc>
                <a:tc>
                  <a:txBody>
                    <a:bodyPr/>
                    <a:lstStyle/>
                    <a:p>
                      <a:r>
                        <a:rPr sz="1800">
                          <a:solidFill>
                            <a:srgbClr val="252527"/>
                          </a:solidFill>
                          <a:latin typeface="Arial"/>
                          <a:ea typeface="Arial"/>
                          <a:cs typeface="Arial"/>
                        </a:rPr>
                        <a:t>CGPA × 10, capped at 100</a:t>
                      </a:r>
                    </a:p>
                  </a:txBody>
                  <a:tcPr marL="114300" marR="114300" marT="95250" marB="95250">
                    <a:solidFill>
                      <a:srgbClr val="F1EEE4"/>
                    </a:solidFill>
                  </a:tcPr>
                </a:tc>
              </a:tr>
            </a:tbl>
          </a:graphicData>
        </a:graphic>
      </p:graphicFrame>
      <p:sp>
        <p:nvSpPr>
          <p:cNvPr id="6" name="Required alignment also supplies the preferre">
            <a:extLst xmlns:a="http://schemas.openxmlformats.org/drawingml/2006/main">
              <a:ext uri="{FF2B5EF4-FFF2-40B4-BE49-F238E27FC236}">
                <a16:creationId xmlns:a16="http://schemas.microsoft.com/office/drawing/2014/main" id="{ACFCEAD5-3122-4371-B95F-8B90D11D665C}"/>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Required alignment also supplies the preferred-skill score when preferred skills are absent.</a:t>
            </a:r>
          </a:p>
        </p:txBody>
      </p:sp>
    </p:spTree>
    <p:extLst>
      <p:ext uri="{BB962C8B-B14F-4D97-AF65-F5344CB8AC3E}">
        <p14:creationId xmlns:p14="http://schemas.microsoft.com/office/powerpoint/2010/main" val="132193248"/>
      </p:ext>
    </p:extLst>
  </p:cSld>
</p:sld>
</file>

<file path=ppt/slides/slide10.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7B556664-99AE-458E-AA52-0312FDAD51DB}"/>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NLP and hybrid ranking">
            <a:extLst xmlns:a="http://schemas.openxmlformats.org/drawingml/2006/main">
              <a:ext uri="{FF2B5EF4-FFF2-40B4-BE49-F238E27FC236}">
                <a16:creationId xmlns:a16="http://schemas.microsoft.com/office/drawing/2014/main" id="{B35798BD-DA54-485F-ABA1-63BF199BE7B6}"/>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NLP and hybrid ranking</a:t>
            </a:r>
          </a:p>
        </p:txBody>
      </p:sp>
      <p:sp>
        <p:nvSpPr>
          <p:cNvPr id="3" name="StartX / BPUT Hackathon 2026 / PS10">
            <a:extLst xmlns:a="http://schemas.openxmlformats.org/drawingml/2006/main">
              <a:ext uri="{FF2B5EF4-FFF2-40B4-BE49-F238E27FC236}">
                <a16:creationId xmlns:a16="http://schemas.microsoft.com/office/drawing/2014/main" id="{0BF9AB5E-840D-47E0-94B1-EAB600F56FF5}"/>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0">
            <a:extLst xmlns:a="http://schemas.openxmlformats.org/drawingml/2006/main">
              <a:ext uri="{FF2B5EF4-FFF2-40B4-BE49-F238E27FC236}">
                <a16:creationId xmlns:a16="http://schemas.microsoft.com/office/drawing/2014/main" id="{FAA03169-0B67-4C04-9A34-C5AE13297355}"/>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B4415767-5BF9-4AAC-80AA-0D108C713600}"/>
              </a:ext>
            </a:extLst>
          </p:cNvPr>
          <p:cNvSpPr>
            <a:spLocks xmlns:a="http://schemas.openxmlformats.org/drawingml/2006/main" noGrp="1"/>
          </p:cNvSpPr>
          <p:nvPr/>
        </p:nvSpPr>
        <p:spPr>
          <a:xfrm xmlns:a="http://schemas.openxmlformats.org/drawingml/2006/main">
            <a:off x="666750" y="2057400"/>
            <a:ext cx="10763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Normalize skill aliases and tokenize job and candidate text.</a:t>
            </a:r>
          </a:p>
          <a:p xmlns:a="http://schemas.openxmlformats.org/drawingml/2006/main">
            <a:pPr marL="254000" indent="-127000">
              <a:spcAft>
                <a:spcPts val="1700"/>
              </a:spcAft>
              <a:buChar char="•"/>
              <a:defRPr sz="2100" b="0">
                <a:solidFill>
                  <a:srgbClr val="252527"/>
                </a:solidFill>
                <a:latin typeface="Arial"/>
                <a:ea typeface="Arial"/>
                <a:cs typeface="Arial"/>
              </a:defRPr>
            </a:pPr>
            <a:r>
              <a:t>Build TF-IDF vectors with smoothed inverse document frequency.</a:t>
            </a:r>
          </a:p>
          <a:p xmlns:a="http://schemas.openxmlformats.org/drawingml/2006/main">
            <a:pPr marL="254000" indent="-127000">
              <a:spcAft>
                <a:spcPts val="1700"/>
              </a:spcAft>
              <a:buChar char="•"/>
              <a:defRPr sz="2100" b="0">
                <a:solidFill>
                  <a:srgbClr val="252527"/>
                </a:solidFill>
                <a:latin typeface="Arial"/>
                <a:ea typeface="Arial"/>
                <a:cs typeface="Arial"/>
              </a:defRPr>
            </a:pPr>
            <a:r>
              <a:t>Compute cosine similarity between the job and each candidate.</a:t>
            </a:r>
          </a:p>
          <a:p xmlns:a="http://schemas.openxmlformats.org/drawingml/2006/main">
            <a:pPr marL="254000" indent="-127000">
              <a:spcAft>
                <a:spcPts val="1700"/>
              </a:spcAft>
              <a:buChar char="•"/>
              <a:defRPr sz="2100" b="0">
                <a:solidFill>
                  <a:srgbClr val="252527"/>
                </a:solidFill>
                <a:latin typeface="Arial"/>
                <a:ea typeface="Arial"/>
                <a:cs typeface="Arial"/>
              </a:defRPr>
            </a:pPr>
            <a:r>
              <a:t>Combine 85% rule-based fit with 15% text relevance.</a:t>
            </a:r>
          </a:p>
          <a:p xmlns:a="http://schemas.openxmlformats.org/drawingml/2006/main">
            <a:pPr marL="254000" indent="-127000">
              <a:spcAft>
                <a:spcPts val="1700"/>
              </a:spcAft>
              <a:buChar char="•"/>
              <a:defRPr sz="2100" b="0">
                <a:solidFill>
                  <a:srgbClr val="252527"/>
                </a:solidFill>
                <a:latin typeface="Arial"/>
                <a:ea typeface="Arial"/>
                <a:cs typeface="Arial"/>
              </a:defRPr>
            </a:pPr>
            <a:r>
              <a:t>Round the hybrid score and sort candidates in descending order.</a:t>
            </a:r>
          </a:p>
        </p:txBody>
      </p:sp>
      <p:sp>
        <p:nvSpPr>
          <p:cNvPr id="6" name="Hybrid score = round(0.85 × fit + 0.15 × cosi">
            <a:extLst xmlns:a="http://schemas.openxmlformats.org/drawingml/2006/main">
              <a:ext uri="{FF2B5EF4-FFF2-40B4-BE49-F238E27FC236}">
                <a16:creationId xmlns:a16="http://schemas.microsoft.com/office/drawing/2014/main" id="{4833B479-A94F-4106-B213-F07DBEE46C71}"/>
              </a:ext>
            </a:extLst>
          </p:cNvPr>
          <p:cNvSpPr>
            <a:spLocks xmlns:a="http://schemas.openxmlformats.org/drawingml/2006/main" noGrp="1"/>
          </p:cNvSpPr>
          <p:nvPr/>
        </p:nvSpPr>
        <p:spPr>
          <a:xfrm xmlns:a="http://schemas.openxmlformats.org/drawingml/2006/main">
            <a:off x="666750" y="5438775"/>
            <a:ext cx="10839450" cy="619125"/>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025" b="1">
                <a:solidFill>
                  <a:srgbClr val="3C3E60"/>
                </a:solidFill>
                <a:latin typeface="Arial"/>
                <a:ea typeface="Arial"/>
                <a:cs typeface="Arial"/>
              </a:defRPr>
            </a:defPPr>
          </a:lstStyle>
          <a:p xmlns:a="http://schemas.openxmlformats.org/drawingml/2006/main">
            <a:pPr>
              <a:defRPr sz="2025" b="1">
                <a:solidFill>
                  <a:srgbClr val="3C3E60"/>
                </a:solidFill>
                <a:latin typeface="Arial"/>
                <a:ea typeface="Arial"/>
                <a:cs typeface="Arial"/>
              </a:defRPr>
            </a:pPr>
            <a:r>
              <a:rPr sz="2025" b="1">
                <a:solidFill>
                  <a:srgbClr val="3C3E60"/>
                </a:solidFill>
                <a:latin typeface="Arial"/>
                <a:ea typeface="Arial"/>
                <a:cs typeface="Arial"/>
              </a:rPr>
              <a:t>Hybrid score = round(0.85 × fit + 0.15 × cosine similarity × 100)</a:t>
            </a:r>
          </a:p>
        </p:txBody>
      </p:sp>
    </p:spTree>
    <p:extLst>
      <p:ext uri="{BB962C8B-B14F-4D97-AF65-F5344CB8AC3E}">
        <p14:creationId xmlns:p14="http://schemas.microsoft.com/office/powerpoint/2010/main" val="1722249053"/>
      </p:ext>
    </p:extLst>
  </p:cSld>
</p:sld>
</file>

<file path=ppt/slides/slide11.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A95A834E-3D63-4440-BB56-DADAFE8C01EA}"/>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Matching results across three drives">
            <a:extLst xmlns:a="http://schemas.openxmlformats.org/drawingml/2006/main">
              <a:ext uri="{FF2B5EF4-FFF2-40B4-BE49-F238E27FC236}">
                <a16:creationId xmlns:a16="http://schemas.microsoft.com/office/drawing/2014/main" id="{34E35600-BE9D-448F-9124-2C5B1F011327}"/>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Matching results across three drives</a:t>
            </a:r>
          </a:p>
        </p:txBody>
      </p:sp>
      <p:sp>
        <p:nvSpPr>
          <p:cNvPr id="3" name="StartX / BPUT Hackathon 2026 / PS10">
            <a:extLst xmlns:a="http://schemas.openxmlformats.org/drawingml/2006/main">
              <a:ext uri="{FF2B5EF4-FFF2-40B4-BE49-F238E27FC236}">
                <a16:creationId xmlns:a16="http://schemas.microsoft.com/office/drawing/2014/main" id="{9D2EC2A5-6F55-4264-B8E8-2EFA7843EA87}"/>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1">
            <a:extLst xmlns:a="http://schemas.openxmlformats.org/drawingml/2006/main">
              <a:ext uri="{FF2B5EF4-FFF2-40B4-BE49-F238E27FC236}">
                <a16:creationId xmlns:a16="http://schemas.microsoft.com/office/drawing/2014/main" id="{369B963B-1213-4E9A-86F5-30CD3F81F8FB}"/>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B0908F6A-7D8C-495C-9D13-EE1FCB25280C}"/>
              </a:ext>
            </a:extLst>
          </p:cNvPr>
          <p:cNvGraphicFramePr/>
          <p:nvPr/>
        </p:nvGraphicFramePr>
        <p:xfrm>
          <a:off xmlns:a="http://schemas.openxmlformats.org/drawingml/2006/main" x="666750" y="2133600"/>
          <a:ext xmlns:a="http://schemas.openxmlformats.org/drawingml/2006/main" cx="10839450" cy="2428875"/>
        </p:xfrm>
        <a:graphic xmlns:a="http://schemas.openxmlformats.org/drawingml/2006/main">
          <a:graphicData uri="http://schemas.openxmlformats.org/drawingml/2006/table">
            <a:tbl>
              <a:tblPr/>
              <a:tblGrid>
                <a:gridCol w="3238500"/>
                <a:gridCol w="3695700"/>
                <a:gridCol w="1952625"/>
                <a:gridCol w="1952625"/>
              </a:tblGrid>
              <a:tr h="607219">
                <a:tc>
                  <a:txBody>
                    <a:bodyPr/>
                    <a:lstStyle/>
                    <a:p>
                      <a:r>
                        <a:rPr sz="1800" b="1">
                          <a:solidFill>
                            <a:srgbClr val="3C3E60"/>
                          </a:solidFill>
                          <a:latin typeface="Arial"/>
                          <a:ea typeface="Arial"/>
                          <a:cs typeface="Arial"/>
                        </a:rPr>
                        <a:t>Simulated drive</a:t>
                      </a:r>
                    </a:p>
                  </a:txBody>
                  <a:tcPr marL="114300" marR="114300" marT="95250" marB="95250">
                    <a:solidFill>
                      <a:srgbClr val="CDC2DB"/>
                    </a:solidFill>
                  </a:tcPr>
                </a:tc>
                <a:tc>
                  <a:txBody>
                    <a:bodyPr/>
                    <a:lstStyle/>
                    <a:p>
                      <a:r>
                        <a:rPr sz="1800" b="1">
                          <a:solidFill>
                            <a:srgbClr val="3C3E60"/>
                          </a:solidFill>
                          <a:latin typeface="Arial"/>
                          <a:ea typeface="Arial"/>
                          <a:cs typeface="Arial"/>
                        </a:rPr>
                        <a:t>Expected top candidate</a:t>
                      </a:r>
                    </a:p>
                  </a:txBody>
                  <a:tcPr marL="114300" marR="114300" marT="95250" marB="95250">
                    <a:solidFill>
                      <a:srgbClr val="CDC2DB"/>
                    </a:solidFill>
                  </a:tcPr>
                </a:tc>
                <a:tc>
                  <a:txBody>
                    <a:bodyPr/>
                    <a:lstStyle/>
                    <a:p>
                      <a:r>
                        <a:rPr sz="1800" b="1">
                          <a:solidFill>
                            <a:srgbClr val="3C3E60"/>
                          </a:solidFill>
                          <a:latin typeface="Arial"/>
                          <a:ea typeface="Arial"/>
                          <a:cs typeface="Arial"/>
                        </a:rPr>
                        <a:t>Hybrid score</a:t>
                      </a:r>
                    </a:p>
                  </a:txBody>
                  <a:tcPr marL="114300" marR="114300" marT="95250" marB="95250">
                    <a:solidFill>
                      <a:srgbClr val="CDC2DB"/>
                    </a:solidFill>
                  </a:tcPr>
                </a:tc>
                <a:tc>
                  <a:txBody>
                    <a:bodyPr/>
                    <a:lstStyle/>
                    <a:p>
                      <a:r>
                        <a:rPr sz="1800" b="1">
                          <a:solidFill>
                            <a:srgbClr val="3C3E60"/>
                          </a:solidFill>
                          <a:latin typeface="Arial"/>
                          <a:ea typeface="Arial"/>
                          <a:cs typeface="Arial"/>
                        </a:rPr>
                        <a:t>Readiness</a:t>
                      </a:r>
                    </a:p>
                  </a:txBody>
                  <a:tcPr marL="114300" marR="114300" marT="95250" marB="95250">
                    <a:solidFill>
                      <a:srgbClr val="CDC2DB"/>
                    </a:solidFill>
                  </a:tcPr>
                </a:tc>
              </a:tr>
              <a:tr h="607219">
                <a:tc>
                  <a:txBody>
                    <a:bodyPr/>
                    <a:lstStyle/>
                    <a:p>
                      <a:r>
                        <a:rPr sz="1800">
                          <a:solidFill>
                            <a:srgbClr val="252527"/>
                          </a:solidFill>
                          <a:latin typeface="Arial"/>
                          <a:ea typeface="Arial"/>
                          <a:cs typeface="Arial"/>
                        </a:rPr>
                        <a:t>Frontend Developer</a:t>
                      </a:r>
                    </a:p>
                  </a:txBody>
                  <a:tcPr marL="114300" marR="114300" marT="95250" marB="95250">
                    <a:solidFill>
                      <a:srgbClr val="F1EEE4"/>
                    </a:solidFill>
                  </a:tcPr>
                </a:tc>
                <a:tc>
                  <a:txBody>
                    <a:bodyPr/>
                    <a:lstStyle/>
                    <a:p>
                      <a:r>
                        <a:rPr sz="1800">
                          <a:solidFill>
                            <a:srgbClr val="252527"/>
                          </a:solidFill>
                          <a:latin typeface="Arial"/>
                          <a:ea typeface="Arial"/>
                          <a:cs typeface="Arial"/>
                        </a:rPr>
                        <a:t>web-strong</a:t>
                      </a:r>
                    </a:p>
                  </a:txBody>
                  <a:tcPr marL="114300" marR="114300" marT="95250" marB="95250">
                    <a:solidFill>
                      <a:srgbClr val="F1EEE4"/>
                    </a:solidFill>
                  </a:tcPr>
                </a:tc>
                <a:tc>
                  <a:txBody>
                    <a:bodyPr/>
                    <a:lstStyle/>
                    <a:p>
                      <a:r>
                        <a:rPr sz="1800">
                          <a:solidFill>
                            <a:srgbClr val="252527"/>
                          </a:solidFill>
                          <a:latin typeface="Arial"/>
                          <a:ea typeface="Arial"/>
                          <a:cs typeface="Arial"/>
                        </a:rPr>
                        <a:t>74</a:t>
                      </a:r>
                    </a:p>
                  </a:txBody>
                  <a:tcPr marL="114300" marR="114300" marT="95250" marB="95250">
                    <a:solidFill>
                      <a:srgbClr val="F1EEE4"/>
                    </a:solidFill>
                  </a:tcPr>
                </a:tc>
                <a:tc>
                  <a:txBody>
                    <a:bodyPr/>
                    <a:lstStyle/>
                    <a:p>
                      <a:r>
                        <a:rPr sz="1800">
                          <a:solidFill>
                            <a:srgbClr val="252527"/>
                          </a:solidFill>
                          <a:latin typeface="Arial"/>
                          <a:ea typeface="Arial"/>
                          <a:cs typeface="Arial"/>
                        </a:rPr>
                        <a:t>93</a:t>
                      </a:r>
                    </a:p>
                  </a:txBody>
                  <a:tcPr marL="114300" marR="114300" marT="95250" marB="95250">
                    <a:solidFill>
                      <a:srgbClr val="F1EEE4"/>
                    </a:solidFill>
                  </a:tcPr>
                </a:tc>
              </a:tr>
              <a:tr h="607219">
                <a:tc>
                  <a:txBody>
                    <a:bodyPr/>
                    <a:lstStyle/>
                    <a:p>
                      <a:r>
                        <a:rPr sz="1800">
                          <a:solidFill>
                            <a:srgbClr val="252527"/>
                          </a:solidFill>
                          <a:latin typeface="Arial"/>
                          <a:ea typeface="Arial"/>
                          <a:cs typeface="Arial"/>
                        </a:rPr>
                        <a:t>Backend Developer</a:t>
                      </a:r>
                    </a:p>
                  </a:txBody>
                  <a:tcPr marL="114300" marR="114300" marT="95250" marB="95250">
                    <a:solidFill>
                      <a:srgbClr val="F1EEE4"/>
                    </a:solidFill>
                  </a:tcPr>
                </a:tc>
                <a:tc>
                  <a:txBody>
                    <a:bodyPr/>
                    <a:lstStyle/>
                    <a:p>
                      <a:r>
                        <a:rPr sz="1800">
                          <a:solidFill>
                            <a:srgbClr val="252527"/>
                          </a:solidFill>
                          <a:latin typeface="Arial"/>
                          <a:ea typeface="Arial"/>
                          <a:cs typeface="Arial"/>
                        </a:rPr>
                        <a:t>backend-strong</a:t>
                      </a:r>
                    </a:p>
                  </a:txBody>
                  <a:tcPr marL="114300" marR="114300" marT="95250" marB="95250">
                    <a:solidFill>
                      <a:srgbClr val="F1EEE4"/>
                    </a:solidFill>
                  </a:tcPr>
                </a:tc>
                <a:tc>
                  <a:txBody>
                    <a:bodyPr/>
                    <a:lstStyle/>
                    <a:p>
                      <a:r>
                        <a:rPr sz="1800">
                          <a:solidFill>
                            <a:srgbClr val="252527"/>
                          </a:solidFill>
                          <a:latin typeface="Arial"/>
                          <a:ea typeface="Arial"/>
                          <a:cs typeface="Arial"/>
                        </a:rPr>
                        <a:t>74</a:t>
                      </a:r>
                    </a:p>
                  </a:txBody>
                  <a:tcPr marL="114300" marR="114300" marT="95250" marB="95250">
                    <a:solidFill>
                      <a:srgbClr val="F1EEE4"/>
                    </a:solidFill>
                  </a:tcPr>
                </a:tc>
                <a:tc>
                  <a:txBody>
                    <a:bodyPr/>
                    <a:lstStyle/>
                    <a:p>
                      <a:r>
                        <a:rPr sz="1800">
                          <a:solidFill>
                            <a:srgbClr val="252527"/>
                          </a:solidFill>
                          <a:latin typeface="Arial"/>
                          <a:ea typeface="Arial"/>
                          <a:cs typeface="Arial"/>
                        </a:rPr>
                        <a:t>93</a:t>
                      </a:r>
                    </a:p>
                  </a:txBody>
                  <a:tcPr marL="114300" marR="114300" marT="95250" marB="95250">
                    <a:solidFill>
                      <a:srgbClr val="F1EEE4"/>
                    </a:solidFill>
                  </a:tcPr>
                </a:tc>
              </a:tr>
              <a:tr h="607219">
                <a:tc>
                  <a:txBody>
                    <a:bodyPr/>
                    <a:lstStyle/>
                    <a:p>
                      <a:r>
                        <a:rPr sz="1800">
                          <a:solidFill>
                            <a:srgbClr val="252527"/>
                          </a:solidFill>
                          <a:latin typeface="Arial"/>
                          <a:ea typeface="Arial"/>
                          <a:cs typeface="Arial"/>
                        </a:rPr>
                        <a:t>Data Analyst</a:t>
                      </a:r>
                    </a:p>
                  </a:txBody>
                  <a:tcPr marL="114300" marR="114300" marT="95250" marB="95250">
                    <a:solidFill>
                      <a:srgbClr val="F1EEE4"/>
                    </a:solidFill>
                  </a:tcPr>
                </a:tc>
                <a:tc>
                  <a:txBody>
                    <a:bodyPr/>
                    <a:lstStyle/>
                    <a:p>
                      <a:r>
                        <a:rPr sz="1800">
                          <a:solidFill>
                            <a:srgbClr val="252527"/>
                          </a:solidFill>
                          <a:latin typeface="Arial"/>
                          <a:ea typeface="Arial"/>
                          <a:cs typeface="Arial"/>
                        </a:rPr>
                        <a:t>data-strong</a:t>
                      </a:r>
                    </a:p>
                  </a:txBody>
                  <a:tcPr marL="114300" marR="114300" marT="95250" marB="95250">
                    <a:solidFill>
                      <a:srgbClr val="F1EEE4"/>
                    </a:solidFill>
                  </a:tcPr>
                </a:tc>
                <a:tc>
                  <a:txBody>
                    <a:bodyPr/>
                    <a:lstStyle/>
                    <a:p>
                      <a:r>
                        <a:rPr sz="1800">
                          <a:solidFill>
                            <a:srgbClr val="252527"/>
                          </a:solidFill>
                          <a:latin typeface="Arial"/>
                          <a:ea typeface="Arial"/>
                          <a:cs typeface="Arial"/>
                        </a:rPr>
                        <a:t>74</a:t>
                      </a:r>
                    </a:p>
                  </a:txBody>
                  <a:tcPr marL="114300" marR="114300" marT="95250" marB="95250">
                    <a:solidFill>
                      <a:srgbClr val="F1EEE4"/>
                    </a:solidFill>
                  </a:tcPr>
                </a:tc>
                <a:tc>
                  <a:txBody>
                    <a:bodyPr/>
                    <a:lstStyle/>
                    <a:p>
                      <a:r>
                        <a:rPr sz="1800">
                          <a:solidFill>
                            <a:srgbClr val="252527"/>
                          </a:solidFill>
                          <a:latin typeface="Arial"/>
                          <a:ea typeface="Arial"/>
                          <a:cs typeface="Arial"/>
                        </a:rPr>
                        <a:t>93</a:t>
                      </a:r>
                    </a:p>
                  </a:txBody>
                  <a:tcPr marL="114300" marR="114300" marT="95250" marB="95250">
                    <a:solidFill>
                      <a:srgbClr val="F1EEE4"/>
                    </a:solidFill>
                  </a:tcPr>
                </a:tc>
              </a:tr>
            </a:tbl>
          </a:graphicData>
        </a:graphic>
      </p:graphicFrame>
      <p:sp>
        <p:nvSpPr>
          <p:cNvPr id="6" name="">
            <a:extLst xmlns:a="http://schemas.openxmlformats.org/drawingml/2006/main">
              <a:ext uri="{FF2B5EF4-FFF2-40B4-BE49-F238E27FC236}">
                <a16:creationId xmlns:a16="http://schemas.microsoft.com/office/drawing/2014/main" id="{928D0480-970B-4DB1-A1C6-B14518AA9D99}"/>
              </a:ext>
            </a:extLst>
          </p:cNvPr>
          <p:cNvSpPr>
            <a:spLocks xmlns:a="http://schemas.openxmlformats.org/drawingml/2006/main" noGrp="1"/>
          </p:cNvSpPr>
          <p:nvPr/>
        </p:nvSpPr>
        <p:spPr>
          <a:xfrm xmlns:a="http://schemas.openxmlformats.org/drawingml/2006/main">
            <a:off x="666750" y="4838700"/>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950" b="0">
                <a:solidFill>
                  <a:srgbClr val="252527"/>
                </a:solidFill>
                <a:latin typeface="Arial"/>
                <a:ea typeface="Arial"/>
                <a:cs typeface="Arial"/>
              </a:defRPr>
            </a:defPPr>
          </a:lstStyle>
          <a:p xmlns:a="http://schemas.openxmlformats.org/drawingml/2006/main">
            <a:pPr marL="254000" indent="-127000">
              <a:spcAft>
                <a:spcPts val="900"/>
              </a:spcAft>
              <a:buChar char="•"/>
              <a:defRPr sz="1950" b="0">
                <a:solidFill>
                  <a:srgbClr val="252527"/>
                </a:solidFill>
                <a:latin typeface="Arial"/>
                <a:ea typeface="Arial"/>
                <a:cs typeface="Arial"/>
              </a:defRPr>
            </a:pPr>
            <a:r>
              <a:t>Each developing specialist scores 40 for the matching drive.</a:t>
            </a:r>
          </a:p>
          <a:p xmlns:a="http://schemas.openxmlformats.org/drawingml/2006/main">
            <a:pPr marL="254000" indent="-127000">
              <a:spcAft>
                <a:spcPts val="900"/>
              </a:spcAft>
              <a:buChar char="•"/>
              <a:defRPr sz="1950" b="0">
                <a:solidFill>
                  <a:srgbClr val="252527"/>
                </a:solidFill>
                <a:latin typeface="Arial"/>
                <a:ea typeface="Arial"/>
                <a:cs typeface="Arial"/>
              </a:defRPr>
            </a:pPr>
            <a:r>
              <a:t>The all-rounder scores 34 in each drive.</a:t>
            </a:r>
          </a:p>
          <a:p xmlns:a="http://schemas.openxmlformats.org/drawingml/2006/main">
            <a:pPr marL="254000" indent="-127000">
              <a:spcAft>
                <a:spcPts val="900"/>
              </a:spcAft>
              <a:buChar char="•"/>
              <a:defRPr sz="1950" b="0">
                <a:solidFill>
                  <a:srgbClr val="252527"/>
                </a:solidFill>
                <a:latin typeface="Arial"/>
                <a:ea typeface="Arial"/>
                <a:cs typeface="Arial"/>
              </a:defRPr>
            </a:pPr>
            <a:r>
              <a:t>Verified skills and preparation evidence influence the ranking.</a:t>
            </a:r>
          </a:p>
        </p:txBody>
      </p:sp>
    </p:spTree>
    <p:extLst>
      <p:ext uri="{BB962C8B-B14F-4D97-AF65-F5344CB8AC3E}">
        <p14:creationId xmlns:p14="http://schemas.microsoft.com/office/powerpoint/2010/main" val="1594687099"/>
      </p:ext>
    </p:extLst>
  </p:cSld>
</p:sld>
</file>

<file path=ppt/slides/slide12.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0" name="CAMPUSLINK">
            <a:extLst xmlns:a="http://schemas.openxmlformats.org/drawingml/2006/main">
              <a:ext uri="{FF2B5EF4-FFF2-40B4-BE49-F238E27FC236}">
                <a16:creationId xmlns:a16="http://schemas.microsoft.com/office/drawing/2014/main" id="{67DA2D06-465D-488A-A342-95434903CD1E}"/>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Scheduling and offer workflow">
            <a:extLst xmlns:a="http://schemas.openxmlformats.org/drawingml/2006/main">
              <a:ext uri="{FF2B5EF4-FFF2-40B4-BE49-F238E27FC236}">
                <a16:creationId xmlns:a16="http://schemas.microsoft.com/office/drawing/2014/main" id="{69C7FAB0-641A-421B-8272-5343DA560787}"/>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Scheduling and offer workflow</a:t>
            </a:r>
          </a:p>
        </p:txBody>
      </p:sp>
      <p:sp>
        <p:nvSpPr>
          <p:cNvPr id="3" name="StartX / BPUT Hackathon 2026 / PS10">
            <a:extLst xmlns:a="http://schemas.openxmlformats.org/drawingml/2006/main">
              <a:ext uri="{FF2B5EF4-FFF2-40B4-BE49-F238E27FC236}">
                <a16:creationId xmlns:a16="http://schemas.microsoft.com/office/drawing/2014/main" id="{81D941B6-C28C-4B5E-A06D-42E4E2B1E4C6}"/>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2">
            <a:extLst xmlns:a="http://schemas.openxmlformats.org/drawingml/2006/main">
              <a:ext uri="{FF2B5EF4-FFF2-40B4-BE49-F238E27FC236}">
                <a16:creationId xmlns:a16="http://schemas.microsoft.com/office/drawing/2014/main" id="{61B5F648-129F-4D7E-AAAE-F1610BD72D9D}"/>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12</a:t>
            </a:r>
          </a:p>
        </p:txBody>
      </p:sp>
      <p:sp>
        <p:nvSpPr>
          <p:cNvPr id="5" name="Recruitment coordination">
            <a:extLst xmlns:a="http://schemas.openxmlformats.org/drawingml/2006/main">
              <a:ext uri="{FF2B5EF4-FFF2-40B4-BE49-F238E27FC236}">
                <a16:creationId xmlns:a16="http://schemas.microsoft.com/office/drawing/2014/main" id="{BFC1860C-AB62-41F4-90A1-950663599E6B}"/>
              </a:ext>
            </a:extLst>
          </p:cNvPr>
          <p:cNvSpPr>
            <a:spLocks xmlns:a="http://schemas.openxmlformats.org/drawingml/2006/main" noGrp="1"/>
          </p:cNvSpPr>
          <p:nvPr/>
        </p:nvSpPr>
        <p:spPr>
          <a:xfrm xmlns:a="http://schemas.openxmlformats.org/drawingml/2006/main">
            <a:off x="66675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Recruitment coordination</a:t>
            </a:r>
          </a:p>
        </p:txBody>
      </p:sp>
      <p:sp>
        <p:nvSpPr>
          <p:cNvPr id="6" name="Offer and joining controls">
            <a:extLst xmlns:a="http://schemas.openxmlformats.org/drawingml/2006/main">
              <a:ext uri="{FF2B5EF4-FFF2-40B4-BE49-F238E27FC236}">
                <a16:creationId xmlns:a16="http://schemas.microsoft.com/office/drawing/2014/main" id="{A73BA985-0DF5-467D-A9F4-38998A6A2FE4}"/>
              </a:ext>
            </a:extLst>
          </p:cNvPr>
          <p:cNvSpPr>
            <a:spLocks xmlns:a="http://schemas.openxmlformats.org/drawingml/2006/main" noGrp="1"/>
          </p:cNvSpPr>
          <p:nvPr/>
        </p:nvSpPr>
        <p:spPr>
          <a:xfrm xmlns:a="http://schemas.openxmlformats.org/drawingml/2006/main">
            <a:off x="628650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Offer and joining controls</a:t>
            </a:r>
          </a:p>
        </p:txBody>
      </p:sp>
      <p:sp>
        <p:nvSpPr>
          <p:cNvPr id="7" name="">
            <a:extLst xmlns:a="http://schemas.openxmlformats.org/drawingml/2006/main">
              <a:ext uri="{FF2B5EF4-FFF2-40B4-BE49-F238E27FC236}">
                <a16:creationId xmlns:a16="http://schemas.microsoft.com/office/drawing/2014/main" id="{33A827CB-519A-4E25-99A1-800BF6D1732B}"/>
              </a:ext>
            </a:extLst>
          </p:cNvPr>
          <p:cNvSpPr>
            <a:spLocks xmlns:a="http://schemas.openxmlformats.org/drawingml/2006/main" noGrp="1"/>
          </p:cNvSpPr>
          <p:nvPr/>
        </p:nvSpPr>
        <p:spPr>
          <a:xfrm xmlns:a="http://schemas.openxmlformats.org/drawingml/2006/main">
            <a:off x="666750" y="2714625"/>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Campus approval and recruiter confirmation</a:t>
            </a:r>
          </a:p>
          <a:p xmlns:a="http://schemas.openxmlformats.org/drawingml/2006/main">
            <a:pPr marL="254000" indent="-127000">
              <a:spcAft>
                <a:spcPts val="1700"/>
              </a:spcAft>
              <a:buChar char="•"/>
              <a:defRPr sz="2100" b="0">
                <a:solidFill>
                  <a:srgbClr val="252527"/>
                </a:solidFill>
                <a:latin typeface="Arial"/>
                <a:ea typeface="Arial"/>
                <a:cs typeface="Arial"/>
              </a:defRPr>
            </a:pPr>
            <a:r>
              <a:t>Resource and cohort conflict checks</a:t>
            </a:r>
          </a:p>
          <a:p xmlns:a="http://schemas.openxmlformats.org/drawingml/2006/main">
            <a:pPr marL="254000" indent="-127000">
              <a:spcAft>
                <a:spcPts val="1700"/>
              </a:spcAft>
              <a:buChar char="•"/>
              <a:defRPr sz="2100" b="0">
                <a:solidFill>
                  <a:srgbClr val="252527"/>
                </a:solidFill>
                <a:latin typeface="Arial"/>
                <a:ea typeface="Arial"/>
                <a:cs typeface="Arial"/>
              </a:defRPr>
            </a:pPr>
            <a:r>
              <a:t>Candidate, room and panel interview checks</a:t>
            </a:r>
          </a:p>
        </p:txBody>
      </p:sp>
      <p:sp>
        <p:nvSpPr>
          <p:cNvPr id="8" name="">
            <a:extLst xmlns:a="http://schemas.openxmlformats.org/drawingml/2006/main">
              <a:ext uri="{FF2B5EF4-FFF2-40B4-BE49-F238E27FC236}">
                <a16:creationId xmlns:a16="http://schemas.microsoft.com/office/drawing/2014/main" id="{34ED71AB-6C9A-473B-9DE0-A3BBBB5E35A7}"/>
              </a:ext>
            </a:extLst>
          </p:cNvPr>
          <p:cNvSpPr>
            <a:spLocks xmlns:a="http://schemas.openxmlformats.org/drawingml/2006/main" noGrp="1"/>
          </p:cNvSpPr>
          <p:nvPr/>
        </p:nvSpPr>
        <p:spPr>
          <a:xfrm xmlns:a="http://schemas.openxmlformats.org/drawingml/2006/main">
            <a:off x="6286500" y="2714625"/>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Round results control candidate progression</a:t>
            </a:r>
          </a:p>
          <a:p xmlns:a="http://schemas.openxmlformats.org/drawingml/2006/main">
            <a:pPr marL="254000" indent="-127000">
              <a:spcAft>
                <a:spcPts val="1700"/>
              </a:spcAft>
              <a:buChar char="•"/>
              <a:defRPr sz="2100" b="0">
                <a:solidFill>
                  <a:srgbClr val="252527"/>
                </a:solidFill>
                <a:latin typeface="Arial"/>
                <a:ea typeface="Arial"/>
                <a:cs typeface="Arial"/>
              </a:defRPr>
            </a:pPr>
            <a:r>
              <a:t>Students accept, defer or withdraw offers</a:t>
            </a:r>
          </a:p>
          <a:p xmlns:a="http://schemas.openxmlformats.org/drawingml/2006/main">
            <a:pPr marL="254000" indent="-127000">
              <a:spcAft>
                <a:spcPts val="1700"/>
              </a:spcAft>
              <a:buChar char="•"/>
              <a:defRPr sz="2100" b="0">
                <a:solidFill>
                  <a:srgbClr val="252527"/>
                </a:solidFill>
                <a:latin typeface="Arial"/>
                <a:ea typeface="Arial"/>
                <a:cs typeface="Arial"/>
              </a:defRPr>
            </a:pPr>
            <a:r>
              <a:t>Document verification precedes joining</a:t>
            </a:r>
          </a:p>
        </p:txBody>
      </p:sp>
      <p:sp>
        <p:nvSpPr>
          <p:cNvPr id="9" name="Stored notifications and deduplicated reminde">
            <a:extLst xmlns:a="http://schemas.openxmlformats.org/drawingml/2006/main">
              <a:ext uri="{FF2B5EF4-FFF2-40B4-BE49-F238E27FC236}">
                <a16:creationId xmlns:a16="http://schemas.microsoft.com/office/drawing/2014/main" id="{75C6C256-EABE-44FA-996E-73101C9C4591}"/>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Stored notifications and deduplicated reminders connect the workflow.</a:t>
            </a:r>
          </a:p>
        </p:txBody>
      </p:sp>
    </p:spTree>
    <p:extLst>
      <p:ext uri="{BB962C8B-B14F-4D97-AF65-F5344CB8AC3E}">
        <p14:creationId xmlns:p14="http://schemas.microsoft.com/office/powerpoint/2010/main" val="1589109197"/>
      </p:ext>
    </p:extLst>
  </p:cSld>
</p:sld>
</file>

<file path=ppt/slides/slide13.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5FA80243-0505-4832-B782-5FD979274755}"/>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Optional historical outcome model">
            <a:extLst xmlns:a="http://schemas.openxmlformats.org/drawingml/2006/main">
              <a:ext uri="{FF2B5EF4-FFF2-40B4-BE49-F238E27FC236}">
                <a16:creationId xmlns:a16="http://schemas.microsoft.com/office/drawing/2014/main" id="{FDA75562-C505-485D-93D2-5E61A934D37E}"/>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Optional historical outcome model</a:t>
            </a:r>
          </a:p>
        </p:txBody>
      </p:sp>
      <p:sp>
        <p:nvSpPr>
          <p:cNvPr id="3" name="StartX / BPUT Hackathon 2026 / PS10">
            <a:extLst xmlns:a="http://schemas.openxmlformats.org/drawingml/2006/main">
              <a:ext uri="{FF2B5EF4-FFF2-40B4-BE49-F238E27FC236}">
                <a16:creationId xmlns:a16="http://schemas.microsoft.com/office/drawing/2014/main" id="{08D51ACB-92E4-4015-869C-ABC8551C9F21}"/>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3">
            <a:extLst xmlns:a="http://schemas.openxmlformats.org/drawingml/2006/main">
              <a:ext uri="{FF2B5EF4-FFF2-40B4-BE49-F238E27FC236}">
                <a16:creationId xmlns:a16="http://schemas.microsoft.com/office/drawing/2014/main" id="{66744689-0713-416A-A9FA-5B8B9E3CFD2A}"/>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66A24F1-6470-4E92-A61A-8A2A03D20166}"/>
              </a:ext>
            </a:extLst>
          </p:cNvPr>
          <p:cNvSpPr>
            <a:spLocks xmlns:a="http://schemas.openxmlformats.org/drawingml/2006/main" noGrp="1"/>
          </p:cNvSpPr>
          <p:nvPr/>
        </p:nvSpPr>
        <p:spPr>
          <a:xfrm xmlns:a="http://schemas.openxmlformats.org/drawingml/2006/main">
            <a:off x="666750" y="2047875"/>
            <a:ext cx="10810875" cy="3190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Model: logistic regression over six readiness features.</a:t>
            </a:r>
          </a:p>
          <a:p xmlns:a="http://schemas.openxmlformats.org/drawingml/2006/main">
            <a:pPr marL="254000" indent="-127000">
              <a:spcAft>
                <a:spcPts val="1700"/>
              </a:spcAft>
              <a:buChar char="•"/>
              <a:defRPr sz="2100" b="0">
                <a:solidFill>
                  <a:srgbClr val="252527"/>
                </a:solidFill>
                <a:latin typeface="Arial"/>
                <a:ea typeface="Arial"/>
                <a:cs typeface="Arial"/>
              </a:defRPr>
            </a:pPr>
            <a:r>
              <a:t>Training requires at least 60 labeled outcomes across three cohorts.</a:t>
            </a:r>
          </a:p>
          <a:p xmlns:a="http://schemas.openxmlformats.org/drawingml/2006/main">
            <a:pPr marL="254000" indent="-127000">
              <a:spcAft>
                <a:spcPts val="1700"/>
              </a:spcAft>
              <a:buChar char="•"/>
              <a:defRPr sz="2100" b="0">
                <a:solidFill>
                  <a:srgbClr val="252527"/>
                </a:solidFill>
                <a:latin typeface="Arial"/>
                <a:ea typeface="Arial"/>
                <a:cs typeface="Arial"/>
              </a:defRPr>
            </a:pPr>
            <a:r>
              <a:t>The latest sorted cohort serves as the held-out test set.</a:t>
            </a:r>
          </a:p>
          <a:p xmlns:a="http://schemas.openxmlformats.org/drawingml/2006/main">
            <a:pPr marL="254000" indent="-127000">
              <a:spcAft>
                <a:spcPts val="1700"/>
              </a:spcAft>
              <a:buChar char="•"/>
              <a:defRPr sz="2100" b="0">
                <a:solidFill>
                  <a:srgbClr val="252527"/>
                </a:solidFill>
                <a:latin typeface="Arial"/>
                <a:ea typeface="Arial"/>
                <a:cs typeface="Arial"/>
              </a:defRPr>
            </a:pPr>
            <a:r>
              <a:t>Training uses gradient descent with L2 regularization.</a:t>
            </a:r>
          </a:p>
          <a:p xmlns:a="http://schemas.openxmlformats.org/drawingml/2006/main">
            <a:pPr marL="254000" indent="-127000">
              <a:spcAft>
                <a:spcPts val="1700"/>
              </a:spcAft>
              <a:buChar char="•"/>
              <a:defRPr sz="2100" b="0">
                <a:solidFill>
                  <a:srgbClr val="252527"/>
                </a:solidFill>
                <a:latin typeface="Arial"/>
                <a:ea typeface="Arial"/>
                <a:cs typeface="Arial"/>
              </a:defRPr>
            </a:pPr>
            <a:r>
              <a:t>Evaluation reports accuracy, precision, recall and Brier score.</a:t>
            </a:r>
          </a:p>
        </p:txBody>
      </p:sp>
      <p:sp>
        <p:nvSpPr>
          <p:cNvPr id="6" name="Current status: historical training and outco">
            <a:extLst xmlns:a="http://schemas.openxmlformats.org/drawingml/2006/main">
              <a:ext uri="{FF2B5EF4-FFF2-40B4-BE49-F238E27FC236}">
                <a16:creationId xmlns:a16="http://schemas.microsoft.com/office/drawing/2014/main" id="{464FD86F-F2B2-478C-A958-5D96F25BFD3C}"/>
              </a:ext>
            </a:extLst>
          </p:cNvPr>
          <p:cNvSpPr>
            <a:spLocks xmlns:a="http://schemas.openxmlformats.org/drawingml/2006/main" noGrp="1"/>
          </p:cNvSpPr>
          <p:nvPr/>
        </p:nvSpPr>
        <p:spPr>
          <a:xfrm xmlns:a="http://schemas.openxmlformats.org/drawingml/2006/main">
            <a:off x="666750" y="5457825"/>
            <a:ext cx="10839450" cy="6096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950" b="1">
                <a:solidFill>
                  <a:srgbClr val="3C3E60"/>
                </a:solidFill>
                <a:latin typeface="Arial"/>
                <a:ea typeface="Arial"/>
                <a:cs typeface="Arial"/>
              </a:defRPr>
            </a:defPPr>
          </a:lstStyle>
          <a:p xmlns:a="http://schemas.openxmlformats.org/drawingml/2006/main">
            <a:pPr>
              <a:defRPr sz="1950" b="1">
                <a:solidFill>
                  <a:srgbClr val="3C3E60"/>
                </a:solidFill>
                <a:latin typeface="Arial"/>
                <a:ea typeface="Arial"/>
                <a:cs typeface="Arial"/>
              </a:defRPr>
            </a:pPr>
            <a:r>
              <a:rPr sz="1950" b="1">
                <a:solidFill>
                  <a:srgbClr val="3C3E60"/>
                </a:solidFill>
                <a:latin typeface="Arial"/>
                <a:ea typeface="Arial"/>
                <a:cs typeface="Arial"/>
              </a:rPr>
              <a:t>Current status: historical training and outcome validation remain pending.</a:t>
            </a:r>
          </a:p>
        </p:txBody>
      </p:sp>
    </p:spTree>
    <p:extLst>
      <p:ext uri="{BB962C8B-B14F-4D97-AF65-F5344CB8AC3E}">
        <p14:creationId xmlns:p14="http://schemas.microsoft.com/office/powerpoint/2010/main" val="462875444"/>
      </p:ext>
    </p:extLst>
  </p:cSld>
</p:sld>
</file>

<file path=ppt/slides/slide14.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0FC18477-3E34-44E0-9B68-441DA8197222}"/>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Simulated dataset and evaluation protocol">
            <a:extLst xmlns:a="http://schemas.openxmlformats.org/drawingml/2006/main">
              <a:ext uri="{FF2B5EF4-FFF2-40B4-BE49-F238E27FC236}">
                <a16:creationId xmlns:a16="http://schemas.microsoft.com/office/drawing/2014/main" id="{1EECFDF2-B8F4-4333-812A-FB2D4BF634AD}"/>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Simulated dataset and evaluation protocol</a:t>
            </a:r>
          </a:p>
        </p:txBody>
      </p:sp>
      <p:sp>
        <p:nvSpPr>
          <p:cNvPr id="3" name="StartX / BPUT Hackathon 2026 / PS10">
            <a:extLst xmlns:a="http://schemas.openxmlformats.org/drawingml/2006/main">
              <a:ext uri="{FF2B5EF4-FFF2-40B4-BE49-F238E27FC236}">
                <a16:creationId xmlns:a16="http://schemas.microsoft.com/office/drawing/2014/main" id="{0D0C7FC9-4BE1-4A39-96E0-D9AEFCBABE68}"/>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4">
            <a:extLst xmlns:a="http://schemas.openxmlformats.org/drawingml/2006/main">
              <a:ext uri="{FF2B5EF4-FFF2-40B4-BE49-F238E27FC236}">
                <a16:creationId xmlns:a16="http://schemas.microsoft.com/office/drawing/2014/main" id="{644BCA40-96E1-486F-A2EA-DB04D04ED9D1}"/>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14</a:t>
            </a:r>
          </a:p>
        </p:txBody>
      </p:sp>
      <p:graphicFrame>
        <p:nvGraphicFramePr>
          <p:cNvPr id="5" name="">
            <a:extLst xmlns:a="http://schemas.openxmlformats.org/drawingml/2006/main">
              <a:ext uri="{FF2B5EF4-FFF2-40B4-BE49-F238E27FC236}">
                <a16:creationId xmlns:a16="http://schemas.microsoft.com/office/drawing/2014/main" id="{2FCB21DA-FEBD-4A69-94E9-DC52BB2555DA}"/>
              </a:ext>
            </a:extLst>
          </p:cNvPr>
          <p:cNvGraphicFramePr/>
          <p:nvPr/>
        </p:nvGraphicFramePr>
        <p:xfrm>
          <a:off xmlns:a="http://schemas.openxmlformats.org/drawingml/2006/main" x="666750" y="2009775"/>
          <a:ext xmlns:a="http://schemas.openxmlformats.org/drawingml/2006/main" cx="10839450" cy="3333750"/>
        </p:xfrm>
        <a:graphic xmlns:a="http://schemas.openxmlformats.org/drawingml/2006/main">
          <a:graphicData uri="http://schemas.openxmlformats.org/drawingml/2006/table">
            <a:tbl>
              <a:tblPr/>
              <a:tblGrid>
                <a:gridCol w="3190875"/>
                <a:gridCol w="7648575"/>
              </a:tblGrid>
              <a:tr h="555625">
                <a:tc>
                  <a:txBody>
                    <a:bodyPr/>
                    <a:lstStyle/>
                    <a:p>
                      <a:r>
                        <a:rPr sz="1800" b="1">
                          <a:solidFill>
                            <a:srgbClr val="3C3E60"/>
                          </a:solidFill>
                          <a:latin typeface="Arial"/>
                          <a:ea typeface="Arial"/>
                          <a:cs typeface="Arial"/>
                        </a:rPr>
                        <a:t>Dataset element</a:t>
                      </a:r>
                    </a:p>
                  </a:txBody>
                  <a:tcPr marL="114300" marR="114300" marT="95250" marB="95250">
                    <a:solidFill>
                      <a:srgbClr val="CDC2DB"/>
                    </a:solidFill>
                  </a:tcPr>
                </a:tc>
                <a:tc>
                  <a:txBody>
                    <a:bodyPr/>
                    <a:lstStyle/>
                    <a:p>
                      <a:r>
                        <a:rPr sz="1800" b="1">
                          <a:solidFill>
                            <a:srgbClr val="3C3E60"/>
                          </a:solidFill>
                          <a:latin typeface="Arial"/>
                          <a:ea typeface="Arial"/>
                          <a:cs typeface="Arial"/>
                        </a:rPr>
                        <a:t>Coverage</a:t>
                      </a:r>
                    </a:p>
                  </a:txBody>
                  <a:tcPr marL="114300" marR="114300" marT="95250" marB="95250">
                    <a:solidFill>
                      <a:srgbClr val="CDC2DB"/>
                    </a:solidFill>
                  </a:tcPr>
                </a:tc>
              </a:tr>
              <a:tr h="555625">
                <a:tc>
                  <a:txBody>
                    <a:bodyPr/>
                    <a:lstStyle/>
                    <a:p>
                      <a:r>
                        <a:rPr sz="1800">
                          <a:solidFill>
                            <a:srgbClr val="252527"/>
                          </a:solidFill>
                          <a:latin typeface="Arial"/>
                          <a:ea typeface="Arial"/>
                          <a:cs typeface="Arial"/>
                        </a:rPr>
                        <a:t>Student profiles</a:t>
                      </a:r>
                    </a:p>
                  </a:txBody>
                  <a:tcPr marL="114300" marR="114300" marT="95250" marB="95250">
                    <a:solidFill>
                      <a:srgbClr val="F1EEE4"/>
                    </a:solidFill>
                  </a:tcPr>
                </a:tc>
                <a:tc>
                  <a:txBody>
                    <a:bodyPr/>
                    <a:lstStyle/>
                    <a:p>
                      <a:r>
                        <a:rPr sz="1800">
                          <a:solidFill>
                            <a:srgbClr val="252527"/>
                          </a:solidFill>
                          <a:latin typeface="Arial"/>
                          <a:ea typeface="Arial"/>
                          <a:cs typeface="Arial"/>
                        </a:rPr>
                        <a:t>13 synthetic profiles across two colleges</a:t>
                      </a:r>
                    </a:p>
                  </a:txBody>
                  <a:tcPr marL="114300" marR="114300" marT="95250" marB="95250">
                    <a:solidFill>
                      <a:srgbClr val="F1EEE4"/>
                    </a:solidFill>
                  </a:tcPr>
                </a:tc>
              </a:tr>
              <a:tr h="555625">
                <a:tc>
                  <a:txBody>
                    <a:bodyPr/>
                    <a:lstStyle/>
                    <a:p>
                      <a:r>
                        <a:rPr sz="1800">
                          <a:solidFill>
                            <a:srgbClr val="252527"/>
                          </a:solidFill>
                          <a:latin typeface="Arial"/>
                          <a:ea typeface="Arial"/>
                          <a:cs typeface="Arial"/>
                        </a:rPr>
                        <a:t>Recruitment drives</a:t>
                      </a:r>
                    </a:p>
                  </a:txBody>
                  <a:tcPr marL="114300" marR="114300" marT="95250" marB="95250">
                    <a:solidFill>
                      <a:srgbClr val="F1EEE4"/>
                    </a:solidFill>
                  </a:tcPr>
                </a:tc>
                <a:tc>
                  <a:txBody>
                    <a:bodyPr/>
                    <a:lstStyle/>
                    <a:p>
                      <a:r>
                        <a:rPr sz="1800">
                          <a:solidFill>
                            <a:srgbClr val="252527"/>
                          </a:solidFill>
                          <a:latin typeface="Arial"/>
                          <a:ea typeface="Arial"/>
                          <a:cs typeface="Arial"/>
                        </a:rPr>
                        <a:t>Frontend, backend and data analysis</a:t>
                      </a:r>
                    </a:p>
                  </a:txBody>
                  <a:tcPr marL="114300" marR="114300" marT="95250" marB="95250">
                    <a:solidFill>
                      <a:srgbClr val="F1EEE4"/>
                    </a:solidFill>
                  </a:tcPr>
                </a:tc>
              </a:tr>
              <a:tr h="555625">
                <a:tc>
                  <a:txBody>
                    <a:bodyPr/>
                    <a:lstStyle/>
                    <a:p>
                      <a:r>
                        <a:rPr sz="1800">
                          <a:solidFill>
                            <a:srgbClr val="252527"/>
                          </a:solidFill>
                          <a:latin typeface="Arial"/>
                          <a:ea typeface="Arial"/>
                          <a:cs typeface="Arial"/>
                        </a:rPr>
                        <a:t>Eligibility labels</a:t>
                      </a:r>
                    </a:p>
                  </a:txBody>
                  <a:tcPr marL="114300" marR="114300" marT="95250" marB="95250">
                    <a:solidFill>
                      <a:srgbClr val="F1EEE4"/>
                    </a:solidFill>
                  </a:tcPr>
                </a:tc>
                <a:tc>
                  <a:txBody>
                    <a:bodyPr/>
                    <a:lstStyle/>
                    <a:p>
                      <a:r>
                        <a:rPr sz="1800">
                          <a:solidFill>
                            <a:srgbClr val="252527"/>
                          </a:solidFill>
                          <a:latin typeface="Arial"/>
                          <a:ea typeface="Arial"/>
                          <a:cs typeface="Arial"/>
                        </a:rPr>
                        <a:t>39 pairs: 9 eligible and 30 ineligible</a:t>
                      </a:r>
                    </a:p>
                  </a:txBody>
                  <a:tcPr marL="114300" marR="114300" marT="95250" marB="95250">
                    <a:solidFill>
                      <a:srgbClr val="F1EEE4"/>
                    </a:solidFill>
                  </a:tcPr>
                </a:tc>
              </a:tr>
              <a:tr h="555625">
                <a:tc>
                  <a:txBody>
                    <a:bodyPr/>
                    <a:lstStyle/>
                    <a:p>
                      <a:r>
                        <a:rPr sz="1800">
                          <a:solidFill>
                            <a:srgbClr val="252527"/>
                          </a:solidFill>
                          <a:latin typeface="Arial"/>
                          <a:ea typeface="Arial"/>
                          <a:cs typeface="Arial"/>
                        </a:rPr>
                        <a:t>Ranking targets</a:t>
                      </a:r>
                    </a:p>
                  </a:txBody>
                  <a:tcPr marL="114300" marR="114300" marT="95250" marB="95250">
                    <a:solidFill>
                      <a:srgbClr val="F1EEE4"/>
                    </a:solidFill>
                  </a:tcPr>
                </a:tc>
                <a:tc>
                  <a:txBody>
                    <a:bodyPr/>
                    <a:lstStyle/>
                    <a:p>
                      <a:r>
                        <a:rPr sz="1800">
                          <a:solidFill>
                            <a:srgbClr val="252527"/>
                          </a:solidFill>
                          <a:latin typeface="Arial"/>
                          <a:ea typeface="Arial"/>
                          <a:cs typeface="Arial"/>
                        </a:rPr>
                        <a:t>One manually specified winner per drive</a:t>
                      </a:r>
                    </a:p>
                  </a:txBody>
                  <a:tcPr marL="114300" marR="114300" marT="95250" marB="95250">
                    <a:solidFill>
                      <a:srgbClr val="F1EEE4"/>
                    </a:solidFill>
                  </a:tcPr>
                </a:tc>
              </a:tr>
              <a:tr h="555625">
                <a:tc>
                  <a:txBody>
                    <a:bodyPr/>
                    <a:lstStyle/>
                    <a:p>
                      <a:r>
                        <a:rPr sz="1800">
                          <a:solidFill>
                            <a:srgbClr val="252527"/>
                          </a:solidFill>
                          <a:latin typeface="Arial"/>
                          <a:ea typeface="Arial"/>
                          <a:cs typeface="Arial"/>
                        </a:rPr>
                        <a:t>Edge cases</a:t>
                      </a:r>
                    </a:p>
                  </a:txBody>
                  <a:tcPr marL="114300" marR="114300" marT="95250" marB="95250">
                    <a:solidFill>
                      <a:srgbClr val="F1EEE4"/>
                    </a:solidFill>
                  </a:tcPr>
                </a:tc>
                <a:tc>
                  <a:txBody>
                    <a:bodyPr/>
                    <a:lstStyle/>
                    <a:p>
                      <a:r>
                        <a:rPr sz="1800">
                          <a:solidFill>
                            <a:srgbClr val="252527"/>
                          </a:solidFill>
                          <a:latin typeface="Arial"/>
                          <a:ea typeface="Arial"/>
                          <a:cs typeface="Arial"/>
                        </a:rPr>
                        <a:t>Missing skills, low CGPA, branch, year, backlogs and campus</a:t>
                      </a:r>
                    </a:p>
                  </a:txBody>
                  <a:tcPr marL="114300" marR="114300" marT="95250" marB="95250">
                    <a:solidFill>
                      <a:srgbClr val="F1EEE4"/>
                    </a:solidFill>
                  </a:tcPr>
                </a:tc>
              </a:tr>
            </a:tbl>
          </a:graphicData>
        </a:graphic>
      </p:graphicFrame>
      <p:sp>
        <p:nvSpPr>
          <p:cNvPr id="6" name="Isolated in-memory demonstration. No public-d">
            <a:extLst xmlns:a="http://schemas.openxmlformats.org/drawingml/2006/main">
              <a:ext uri="{FF2B5EF4-FFF2-40B4-BE49-F238E27FC236}">
                <a16:creationId xmlns:a16="http://schemas.microsoft.com/office/drawing/2014/main" id="{B55B85A6-5EC9-47AB-9D01-FF7C4E2ACD6F}"/>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Isolated in-memory demonstration. No public-dataset validation is recorded.</a:t>
            </a:r>
          </a:p>
        </p:txBody>
      </p:sp>
    </p:spTree>
    <p:extLst>
      <p:ext uri="{BB962C8B-B14F-4D97-AF65-F5344CB8AC3E}">
        <p14:creationId xmlns:p14="http://schemas.microsoft.com/office/powerpoint/2010/main" val="1929320046"/>
      </p:ext>
    </p:extLst>
  </p:cSld>
</p:sld>
</file>

<file path=ppt/slides/slide15.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1" name="CAMPUSLINK">
            <a:extLst xmlns:a="http://schemas.openxmlformats.org/drawingml/2006/main">
              <a:ext uri="{FF2B5EF4-FFF2-40B4-BE49-F238E27FC236}">
                <a16:creationId xmlns:a16="http://schemas.microsoft.com/office/drawing/2014/main" id="{094A3FA3-24C1-4D05-9C77-534076108FCD}"/>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Measured matching accuracy">
            <a:extLst xmlns:a="http://schemas.openxmlformats.org/drawingml/2006/main">
              <a:ext uri="{FF2B5EF4-FFF2-40B4-BE49-F238E27FC236}">
                <a16:creationId xmlns:a16="http://schemas.microsoft.com/office/drawing/2014/main" id="{7F1E0C4F-03D2-47AF-9FBF-8020083362FD}"/>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Measured matching accuracy</a:t>
            </a:r>
          </a:p>
        </p:txBody>
      </p:sp>
      <p:sp>
        <p:nvSpPr>
          <p:cNvPr id="3" name="StartX / BPUT Hackathon 2026 / PS10">
            <a:extLst xmlns:a="http://schemas.openxmlformats.org/drawingml/2006/main">
              <a:ext uri="{FF2B5EF4-FFF2-40B4-BE49-F238E27FC236}">
                <a16:creationId xmlns:a16="http://schemas.microsoft.com/office/drawing/2014/main" id="{928B4FFC-A4F5-4F96-8330-8DC2B6C0B2F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5">
            <a:extLst xmlns:a="http://schemas.openxmlformats.org/drawingml/2006/main">
              <a:ext uri="{FF2B5EF4-FFF2-40B4-BE49-F238E27FC236}">
                <a16:creationId xmlns:a16="http://schemas.microsoft.com/office/drawing/2014/main" id="{97F3F7D3-3C5F-4672-8679-213C8AA0EDD7}"/>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15</a:t>
            </a:r>
          </a:p>
        </p:txBody>
      </p:sp>
      <p:sp>
        <p:nvSpPr>
          <p:cNvPr id="5" name="39 / 39">
            <a:extLst xmlns:a="http://schemas.openxmlformats.org/drawingml/2006/main">
              <a:ext uri="{FF2B5EF4-FFF2-40B4-BE49-F238E27FC236}">
                <a16:creationId xmlns:a16="http://schemas.microsoft.com/office/drawing/2014/main" id="{D091D028-F47E-4486-BB74-08A3DFF4EE19}"/>
              </a:ext>
            </a:extLst>
          </p:cNvPr>
          <p:cNvSpPr>
            <a:spLocks xmlns:a="http://schemas.openxmlformats.org/drawingml/2006/main" noGrp="1"/>
          </p:cNvSpPr>
          <p:nvPr/>
        </p:nvSpPr>
        <p:spPr>
          <a:xfrm xmlns:a="http://schemas.openxmlformats.org/drawingml/2006/main">
            <a:off x="666750" y="22288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850" b="1">
                <a:solidFill>
                  <a:srgbClr val="3C3E60"/>
                </a:solidFill>
                <a:latin typeface="Arial"/>
                <a:ea typeface="Arial"/>
                <a:cs typeface="Arial"/>
              </a:defRPr>
            </a:defPPr>
          </a:lstStyle>
          <a:p xmlns:a="http://schemas.openxmlformats.org/drawingml/2006/main">
            <a:pPr>
              <a:defRPr sz="5850" b="1">
                <a:solidFill>
                  <a:srgbClr val="3C3E60"/>
                </a:solidFill>
                <a:latin typeface="Arial"/>
                <a:ea typeface="Arial"/>
                <a:cs typeface="Arial"/>
              </a:defRPr>
            </a:pPr>
            <a:r>
              <a:rPr sz="5850" b="1">
                <a:solidFill>
                  <a:srgbClr val="3C3E60"/>
                </a:solidFill>
                <a:latin typeface="Arial"/>
                <a:ea typeface="Arial"/>
                <a:cs typeface="Arial"/>
              </a:rPr>
              <a:t>39 / 39</a:t>
            </a:r>
          </a:p>
        </p:txBody>
      </p:sp>
      <p:sp>
        <p:nvSpPr>
          <p:cNvPr id="6" name="Eligibility decisions match labels">
            <a:extLst xmlns:a="http://schemas.openxmlformats.org/drawingml/2006/main">
              <a:ext uri="{FF2B5EF4-FFF2-40B4-BE49-F238E27FC236}">
                <a16:creationId xmlns:a16="http://schemas.microsoft.com/office/drawing/2014/main" id="{8B51BC15-830D-4D54-842E-27D0FEB6DA2E}"/>
              </a:ext>
            </a:extLst>
          </p:cNvPr>
          <p:cNvSpPr>
            <a:spLocks xmlns:a="http://schemas.openxmlformats.org/drawingml/2006/main" noGrp="1"/>
          </p:cNvSpPr>
          <p:nvPr/>
        </p:nvSpPr>
        <p:spPr>
          <a:xfrm xmlns:a="http://schemas.openxmlformats.org/drawingml/2006/main">
            <a:off x="666750" y="3524250"/>
            <a:ext cx="5143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52527"/>
                </a:solidFill>
                <a:latin typeface="Arial"/>
                <a:ea typeface="Arial"/>
                <a:cs typeface="Arial"/>
              </a:defRPr>
            </a:defPPr>
          </a:lstStyle>
          <a:p xmlns:a="http://schemas.openxmlformats.org/drawingml/2006/main">
            <a:pPr>
              <a:defRPr sz="2250" b="1">
                <a:solidFill>
                  <a:srgbClr val="252527"/>
                </a:solidFill>
                <a:latin typeface="Arial"/>
                <a:ea typeface="Arial"/>
                <a:cs typeface="Arial"/>
              </a:defRPr>
            </a:pPr>
            <a:r>
              <a:rPr sz="2250" b="1">
                <a:solidFill>
                  <a:srgbClr val="252527"/>
                </a:solidFill>
                <a:latin typeface="Arial"/>
                <a:ea typeface="Arial"/>
                <a:cs typeface="Arial"/>
              </a:rPr>
              <a:t>Eligibility decisions match labels</a:t>
            </a:r>
          </a:p>
        </p:txBody>
      </p:sp>
      <p:sp>
        <p:nvSpPr>
          <p:cNvPr id="7" name="3 / 3">
            <a:extLst xmlns:a="http://schemas.openxmlformats.org/drawingml/2006/main">
              <a:ext uri="{FF2B5EF4-FFF2-40B4-BE49-F238E27FC236}">
                <a16:creationId xmlns:a16="http://schemas.microsoft.com/office/drawing/2014/main" id="{AFC262C7-4602-4AD1-B377-557A2CA7E22B}"/>
              </a:ext>
            </a:extLst>
          </p:cNvPr>
          <p:cNvSpPr>
            <a:spLocks xmlns:a="http://schemas.openxmlformats.org/drawingml/2006/main" noGrp="1"/>
          </p:cNvSpPr>
          <p:nvPr/>
        </p:nvSpPr>
        <p:spPr>
          <a:xfrm xmlns:a="http://schemas.openxmlformats.org/drawingml/2006/main">
            <a:off x="6429375" y="222885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850" b="1">
                <a:solidFill>
                  <a:srgbClr val="3C3E60"/>
                </a:solidFill>
                <a:latin typeface="Arial"/>
                <a:ea typeface="Arial"/>
                <a:cs typeface="Arial"/>
              </a:defRPr>
            </a:defPPr>
          </a:lstStyle>
          <a:p xmlns:a="http://schemas.openxmlformats.org/drawingml/2006/main">
            <a:pPr>
              <a:defRPr sz="5850" b="1">
                <a:solidFill>
                  <a:srgbClr val="3C3E60"/>
                </a:solidFill>
                <a:latin typeface="Arial"/>
                <a:ea typeface="Arial"/>
                <a:cs typeface="Arial"/>
              </a:defRPr>
            </a:pPr>
            <a:r>
              <a:rPr sz="5850" b="1">
                <a:solidFill>
                  <a:srgbClr val="3C3E60"/>
                </a:solidFill>
                <a:latin typeface="Arial"/>
                <a:ea typeface="Arial"/>
                <a:cs typeface="Arial"/>
              </a:rPr>
              <a:t>3 / 3</a:t>
            </a:r>
          </a:p>
        </p:txBody>
      </p:sp>
      <p:sp>
        <p:nvSpPr>
          <p:cNvPr id="8" name="Expected top candidates match">
            <a:extLst xmlns:a="http://schemas.openxmlformats.org/drawingml/2006/main">
              <a:ext uri="{FF2B5EF4-FFF2-40B4-BE49-F238E27FC236}">
                <a16:creationId xmlns:a16="http://schemas.microsoft.com/office/drawing/2014/main" id="{5A0F8168-441A-4666-B7B3-4D21E59E8F46}"/>
              </a:ext>
            </a:extLst>
          </p:cNvPr>
          <p:cNvSpPr>
            <a:spLocks xmlns:a="http://schemas.openxmlformats.org/drawingml/2006/main" noGrp="1"/>
          </p:cNvSpPr>
          <p:nvPr/>
        </p:nvSpPr>
        <p:spPr>
          <a:xfrm xmlns:a="http://schemas.openxmlformats.org/drawingml/2006/main">
            <a:off x="6429375" y="3524250"/>
            <a:ext cx="4953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250" b="1">
                <a:solidFill>
                  <a:srgbClr val="252527"/>
                </a:solidFill>
                <a:latin typeface="Arial"/>
                <a:ea typeface="Arial"/>
                <a:cs typeface="Arial"/>
              </a:defRPr>
            </a:defPPr>
          </a:lstStyle>
          <a:p xmlns:a="http://schemas.openxmlformats.org/drawingml/2006/main">
            <a:pPr>
              <a:defRPr sz="2250" b="1">
                <a:solidFill>
                  <a:srgbClr val="252527"/>
                </a:solidFill>
                <a:latin typeface="Arial"/>
                <a:ea typeface="Arial"/>
                <a:cs typeface="Arial"/>
              </a:defRPr>
            </a:pPr>
            <a:r>
              <a:rPr sz="2250" b="1">
                <a:solidFill>
                  <a:srgbClr val="252527"/>
                </a:solidFill>
                <a:latin typeface="Arial"/>
                <a:ea typeface="Arial"/>
                <a:cs typeface="Arial"/>
              </a:rPr>
              <a:t>Expected top candidates match</a:t>
            </a:r>
          </a:p>
        </p:txBody>
      </p:sp>
      <p:sp>
        <p:nvSpPr>
          <p:cNvPr id="9" name="Both checks achieved 100% agreement on the su">
            <a:extLst xmlns:a="http://schemas.openxmlformats.org/drawingml/2006/main">
              <a:ext uri="{FF2B5EF4-FFF2-40B4-BE49-F238E27FC236}">
                <a16:creationId xmlns:a16="http://schemas.microsoft.com/office/drawing/2014/main" id="{0C255CAC-7912-4236-8B82-F2B83402102F}"/>
              </a:ext>
            </a:extLst>
          </p:cNvPr>
          <p:cNvSpPr>
            <a:spLocks xmlns:a="http://schemas.openxmlformats.org/drawingml/2006/main" noGrp="1"/>
          </p:cNvSpPr>
          <p:nvPr/>
        </p:nvSpPr>
        <p:spPr>
          <a:xfrm xmlns:a="http://schemas.openxmlformats.org/drawingml/2006/main">
            <a:off x="666750" y="4686300"/>
            <a:ext cx="10810875" cy="74295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325" b="1">
                <a:solidFill>
                  <a:srgbClr val="3C3E60"/>
                </a:solidFill>
                <a:latin typeface="Arial"/>
                <a:ea typeface="Arial"/>
                <a:cs typeface="Arial"/>
              </a:defRPr>
            </a:defPPr>
          </a:lstStyle>
          <a:p xmlns:a="http://schemas.openxmlformats.org/drawingml/2006/main">
            <a:pPr>
              <a:defRPr sz="2325" b="1">
                <a:solidFill>
                  <a:srgbClr val="3C3E60"/>
                </a:solidFill>
                <a:latin typeface="Arial"/>
                <a:ea typeface="Arial"/>
                <a:cs typeface="Arial"/>
              </a:defRPr>
            </a:pPr>
            <a:r>
              <a:rPr sz="2325" b="1">
                <a:solidFill>
                  <a:srgbClr val="3C3E60"/>
                </a:solidFill>
                <a:latin typeface="Arial"/>
                <a:ea typeface="Arial"/>
                <a:cs typeface="Arial"/>
              </a:rPr>
              <a:t>Both checks achieved 100% agreement on the supplied synthetic fixture.</a:t>
            </a:r>
          </a:p>
        </p:txBody>
      </p:sp>
      <p:sp>
        <p:nvSpPr>
          <p:cNvPr id="10" name="Small scripted benchmark. Real-world hiring a">
            <a:extLst xmlns:a="http://schemas.openxmlformats.org/drawingml/2006/main">
              <a:ext uri="{FF2B5EF4-FFF2-40B4-BE49-F238E27FC236}">
                <a16:creationId xmlns:a16="http://schemas.microsoft.com/office/drawing/2014/main" id="{A4A6142D-8600-41DA-9D0E-1F2D7C6B5967}"/>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Small scripted benchmark. Real-world hiring and ranking accuracy remain unverified.</a:t>
            </a:r>
          </a:p>
        </p:txBody>
      </p:sp>
    </p:spTree>
    <p:extLst>
      <p:ext uri="{BB962C8B-B14F-4D97-AF65-F5344CB8AC3E}">
        <p14:creationId xmlns:p14="http://schemas.microsoft.com/office/powerpoint/2010/main" val="644103581"/>
      </p:ext>
    </p:extLst>
  </p:cSld>
</p:sld>
</file>

<file path=ppt/slides/slide16.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0" name="CAMPUSLINK">
            <a:extLst xmlns:a="http://schemas.openxmlformats.org/drawingml/2006/main">
              <a:ext uri="{FF2B5EF4-FFF2-40B4-BE49-F238E27FC236}">
                <a16:creationId xmlns:a16="http://schemas.microsoft.com/office/drawing/2014/main" id="{90A429B2-1CD9-4CCE-BD81-9C910F22DF72}"/>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Scoring validation and remaining evidence">
            <a:extLst xmlns:a="http://schemas.openxmlformats.org/drawingml/2006/main">
              <a:ext uri="{FF2B5EF4-FFF2-40B4-BE49-F238E27FC236}">
                <a16:creationId xmlns:a16="http://schemas.microsoft.com/office/drawing/2014/main" id="{F3D3C7A8-1C4E-46DD-906B-D7F0DDAFF380}"/>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Scoring validation and remaining evidence</a:t>
            </a:r>
          </a:p>
        </p:txBody>
      </p:sp>
      <p:sp>
        <p:nvSpPr>
          <p:cNvPr id="3" name="StartX / BPUT Hackathon 2026 / PS10">
            <a:extLst xmlns:a="http://schemas.openxmlformats.org/drawingml/2006/main">
              <a:ext uri="{FF2B5EF4-FFF2-40B4-BE49-F238E27FC236}">
                <a16:creationId xmlns:a16="http://schemas.microsoft.com/office/drawing/2014/main" id="{56BA6D12-6375-48EF-A799-52172DAB992E}"/>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6">
            <a:extLst xmlns:a="http://schemas.openxmlformats.org/drawingml/2006/main">
              <a:ext uri="{FF2B5EF4-FFF2-40B4-BE49-F238E27FC236}">
                <a16:creationId xmlns:a16="http://schemas.microsoft.com/office/drawing/2014/main" id="{93523F1B-4F60-4236-BC7D-A0BD0FA42BE7}"/>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16</a:t>
            </a:r>
          </a:p>
        </p:txBody>
      </p:sp>
      <p:sp>
        <p:nvSpPr>
          <p:cNvPr id="5" name="What the prototype demonstrates">
            <a:extLst xmlns:a="http://schemas.openxmlformats.org/drawingml/2006/main">
              <a:ext uri="{FF2B5EF4-FFF2-40B4-BE49-F238E27FC236}">
                <a16:creationId xmlns:a16="http://schemas.microsoft.com/office/drawing/2014/main" id="{F9F959E2-BE9F-48FB-85FA-41194DCA83D5}"/>
              </a:ext>
            </a:extLst>
          </p:cNvPr>
          <p:cNvSpPr>
            <a:spLocks xmlns:a="http://schemas.openxmlformats.org/drawingml/2006/main" noGrp="1"/>
          </p:cNvSpPr>
          <p:nvPr/>
        </p:nvSpPr>
        <p:spPr>
          <a:xfrm xmlns:a="http://schemas.openxmlformats.org/drawingml/2006/main">
            <a:off x="66675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What the prototype demonstrates</a:t>
            </a:r>
          </a:p>
        </p:txBody>
      </p:sp>
      <p:sp>
        <p:nvSpPr>
          <p:cNvPr id="6" name="What still needs validation">
            <a:extLst xmlns:a="http://schemas.openxmlformats.org/drawingml/2006/main">
              <a:ext uri="{FF2B5EF4-FFF2-40B4-BE49-F238E27FC236}">
                <a16:creationId xmlns:a16="http://schemas.microsoft.com/office/drawing/2014/main" id="{4DC1EF8E-0DF3-4AE7-99EE-72EA15CE7034}"/>
              </a:ext>
            </a:extLst>
          </p:cNvPr>
          <p:cNvSpPr>
            <a:spLocks xmlns:a="http://schemas.openxmlformats.org/drawingml/2006/main" noGrp="1"/>
          </p:cNvSpPr>
          <p:nvPr/>
        </p:nvSpPr>
        <p:spPr>
          <a:xfrm xmlns:a="http://schemas.openxmlformats.org/drawingml/2006/main">
            <a:off x="628650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What still needs validation</a:t>
            </a:r>
          </a:p>
        </p:txBody>
      </p:sp>
      <p:sp>
        <p:nvSpPr>
          <p:cNvPr id="7" name="">
            <a:extLst xmlns:a="http://schemas.openxmlformats.org/drawingml/2006/main">
              <a:ext uri="{FF2B5EF4-FFF2-40B4-BE49-F238E27FC236}">
                <a16:creationId xmlns:a16="http://schemas.microsoft.com/office/drawing/2014/main" id="{EF50C10D-C9A2-4029-83E8-EF613EBD7895}"/>
              </a:ext>
            </a:extLst>
          </p:cNvPr>
          <p:cNvSpPr>
            <a:spLocks xmlns:a="http://schemas.openxmlformats.org/drawingml/2006/main" noGrp="1"/>
          </p:cNvSpPr>
          <p:nvPr/>
        </p:nvSpPr>
        <p:spPr>
          <a:xfrm xmlns:a="http://schemas.openxmlformats.org/drawingml/2006/main">
            <a:off x="666750" y="27241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252527"/>
                </a:solidFill>
                <a:latin typeface="Arial"/>
                <a:ea typeface="Arial"/>
                <a:cs typeface="Arial"/>
              </a:defRPr>
            </a:defPPr>
          </a:lstStyle>
          <a:p xmlns:a="http://schemas.openxmlformats.org/drawingml/2006/main">
            <a:pPr marL="254000" indent="-127000">
              <a:spcAft>
                <a:spcPts val="1700"/>
              </a:spcAft>
              <a:buChar char="•"/>
              <a:defRPr sz="2025" b="0">
                <a:solidFill>
                  <a:srgbClr val="252527"/>
                </a:solidFill>
                <a:latin typeface="Arial"/>
                <a:ea typeface="Arial"/>
                <a:cs typeface="Arial"/>
              </a:defRPr>
            </a:pPr>
            <a:r>
              <a:t>Worked readiness arithmetic: 92.75 rounds to 93</a:t>
            </a:r>
          </a:p>
          <a:p xmlns:a="http://schemas.openxmlformats.org/drawingml/2006/main">
            <a:pPr marL="254000" indent="-127000">
              <a:spcAft>
                <a:spcPts val="1700"/>
              </a:spcAft>
              <a:buChar char="•"/>
              <a:defRPr sz="2025" b="0">
                <a:solidFill>
                  <a:srgbClr val="252527"/>
                </a:solidFill>
                <a:latin typeface="Arial"/>
                <a:ea typeface="Arial"/>
                <a:cs typeface="Arial"/>
              </a:defRPr>
            </a:pPr>
            <a:r>
              <a:t>Evidence-rich specialists lead the demo rankings</a:t>
            </a:r>
          </a:p>
          <a:p xmlns:a="http://schemas.openxmlformats.org/drawingml/2006/main">
            <a:pPr marL="254000" indent="-127000">
              <a:spcAft>
                <a:spcPts val="1700"/>
              </a:spcAft>
              <a:buChar char="•"/>
              <a:defRPr sz="2025" b="0">
                <a:solidFill>
                  <a:srgbClr val="252527"/>
                </a:solidFill>
                <a:latin typeface="Arial"/>
                <a:ea typeface="Arial"/>
                <a:cs typeface="Arial"/>
              </a:defRPr>
            </a:pPr>
            <a:r>
              <a:t>Missing evidence reduces readiness contributions</a:t>
            </a:r>
          </a:p>
        </p:txBody>
      </p:sp>
      <p:sp>
        <p:nvSpPr>
          <p:cNvPr id="8" name="">
            <a:extLst xmlns:a="http://schemas.openxmlformats.org/drawingml/2006/main">
              <a:ext uri="{FF2B5EF4-FFF2-40B4-BE49-F238E27FC236}">
                <a16:creationId xmlns:a16="http://schemas.microsoft.com/office/drawing/2014/main" id="{D6ACACCF-166D-46BE-95B3-663026085D3D}"/>
              </a:ext>
            </a:extLst>
          </p:cNvPr>
          <p:cNvSpPr>
            <a:spLocks xmlns:a="http://schemas.openxmlformats.org/drawingml/2006/main" noGrp="1"/>
          </p:cNvSpPr>
          <p:nvPr/>
        </p:nvSpPr>
        <p:spPr>
          <a:xfrm xmlns:a="http://schemas.openxmlformats.org/drawingml/2006/main">
            <a:off x="6286500" y="2724150"/>
            <a:ext cx="5143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025" b="0">
                <a:solidFill>
                  <a:srgbClr val="252527"/>
                </a:solidFill>
                <a:latin typeface="Arial"/>
                <a:ea typeface="Arial"/>
                <a:cs typeface="Arial"/>
              </a:defRPr>
            </a:defPPr>
          </a:lstStyle>
          <a:p xmlns:a="http://schemas.openxmlformats.org/drawingml/2006/main">
            <a:pPr marL="254000" indent="-127000">
              <a:spcAft>
                <a:spcPts val="1700"/>
              </a:spcAft>
              <a:buChar char="•"/>
              <a:defRPr sz="2025" b="0">
                <a:solidFill>
                  <a:srgbClr val="252527"/>
                </a:solidFill>
                <a:latin typeface="Arial"/>
                <a:ea typeface="Arial"/>
                <a:cs typeface="Arial"/>
              </a:defRPr>
            </a:pPr>
            <a:r>
              <a:t>Agreement with independent expert readiness labels</a:t>
            </a:r>
          </a:p>
          <a:p xmlns:a="http://schemas.openxmlformats.org/drawingml/2006/main">
            <a:pPr marL="254000" indent="-127000">
              <a:spcAft>
                <a:spcPts val="1700"/>
              </a:spcAft>
              <a:buChar char="•"/>
              <a:defRPr sz="2025" b="0">
                <a:solidFill>
                  <a:srgbClr val="252527"/>
                </a:solidFill>
                <a:latin typeface="Arial"/>
                <a:ea typeface="Arial"/>
                <a:cs typeface="Arial"/>
              </a:defRPr>
            </a:pPr>
            <a:r>
              <a:t>Sensitivity to weights and score thresholds</a:t>
            </a:r>
          </a:p>
          <a:p xmlns:a="http://schemas.openxmlformats.org/drawingml/2006/main">
            <a:pPr marL="254000" indent="-127000">
              <a:spcAft>
                <a:spcPts val="1700"/>
              </a:spcAft>
              <a:buChar char="•"/>
              <a:defRPr sz="2025" b="0">
                <a:solidFill>
                  <a:srgbClr val="252527"/>
                </a:solidFill>
                <a:latin typeface="Arial"/>
                <a:ea typeface="Arial"/>
                <a:cs typeface="Arial"/>
              </a:defRPr>
            </a:pPr>
            <a:r>
              <a:t>Real outcome association and subgroup behavior</a:t>
            </a:r>
          </a:p>
        </p:txBody>
      </p:sp>
      <p:sp>
        <p:nvSpPr>
          <p:cNvPr id="9" name="No independently labeled readiness accuracy r">
            <a:extLst xmlns:a="http://schemas.openxmlformats.org/drawingml/2006/main">
              <a:ext uri="{FF2B5EF4-FFF2-40B4-BE49-F238E27FC236}">
                <a16:creationId xmlns:a16="http://schemas.microsoft.com/office/drawing/2014/main" id="{02B3230C-F73A-42C8-8F0C-4E2B4EA1B87B}"/>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No independently labeled readiness accuracy result is available.</a:t>
            </a:r>
          </a:p>
        </p:txBody>
      </p:sp>
    </p:spTree>
    <p:extLst>
      <p:ext uri="{BB962C8B-B14F-4D97-AF65-F5344CB8AC3E}">
        <p14:creationId xmlns:p14="http://schemas.microsoft.com/office/powerpoint/2010/main" val="1464171379"/>
      </p:ext>
    </p:extLst>
  </p:cSld>
</p:sld>
</file>

<file path=ppt/slides/slide17.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8" name="CAMPUSLINK">
            <a:extLst xmlns:a="http://schemas.openxmlformats.org/drawingml/2006/main">
              <a:ext uri="{FF2B5EF4-FFF2-40B4-BE49-F238E27FC236}">
                <a16:creationId xmlns:a16="http://schemas.microsoft.com/office/drawing/2014/main" id="{41F03A3D-EC3E-4ACA-BCFC-26E8B726CB5C}"/>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Performance evidence and benchmark plan">
            <a:extLst xmlns:a="http://schemas.openxmlformats.org/drawingml/2006/main">
              <a:ext uri="{FF2B5EF4-FFF2-40B4-BE49-F238E27FC236}">
                <a16:creationId xmlns:a16="http://schemas.microsoft.com/office/drawing/2014/main" id="{2E7C72F8-F6B1-4872-B47B-CE2C208A915A}"/>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Performance evidence and benchmark plan</a:t>
            </a:r>
          </a:p>
        </p:txBody>
      </p:sp>
      <p:sp>
        <p:nvSpPr>
          <p:cNvPr id="3" name="StartX / BPUT Hackathon 2026 / PS10">
            <a:extLst xmlns:a="http://schemas.openxmlformats.org/drawingml/2006/main">
              <a:ext uri="{FF2B5EF4-FFF2-40B4-BE49-F238E27FC236}">
                <a16:creationId xmlns:a16="http://schemas.microsoft.com/office/drawing/2014/main" id="{B843D482-E5C9-4F38-B561-712A301E158F}"/>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7">
            <a:extLst xmlns:a="http://schemas.openxmlformats.org/drawingml/2006/main">
              <a:ext uri="{FF2B5EF4-FFF2-40B4-BE49-F238E27FC236}">
                <a16:creationId xmlns:a16="http://schemas.microsoft.com/office/drawing/2014/main" id="{6AA7AE01-B452-4035-B77B-B493AEF63FD3}"/>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17</a:t>
            </a:r>
          </a:p>
        </p:txBody>
      </p:sp>
      <p:sp>
        <p:nvSpPr>
          <p:cNvPr id="5" name="85.58 ms">
            <a:extLst xmlns:a="http://schemas.openxmlformats.org/drawingml/2006/main">
              <a:ext uri="{FF2B5EF4-FFF2-40B4-BE49-F238E27FC236}">
                <a16:creationId xmlns:a16="http://schemas.microsoft.com/office/drawing/2014/main" id="{5061A62B-5F11-42BB-B9C9-739E3425593F}"/>
              </a:ext>
            </a:extLst>
          </p:cNvPr>
          <p:cNvSpPr>
            <a:spLocks xmlns:a="http://schemas.openxmlformats.org/drawingml/2006/main" noGrp="1"/>
          </p:cNvSpPr>
          <p:nvPr/>
        </p:nvSpPr>
        <p:spPr>
          <a:xfrm xmlns:a="http://schemas.openxmlformats.org/drawingml/2006/main">
            <a:off x="666750" y="2133600"/>
            <a:ext cx="10810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5700" b="1">
                <a:solidFill>
                  <a:srgbClr val="3C3E60"/>
                </a:solidFill>
                <a:latin typeface="Arial"/>
                <a:ea typeface="Arial"/>
                <a:cs typeface="Arial"/>
              </a:defRPr>
            </a:defPPr>
          </a:lstStyle>
          <a:p xmlns:a="http://schemas.openxmlformats.org/drawingml/2006/main">
            <a:pPr>
              <a:defRPr sz="5700" b="1">
                <a:solidFill>
                  <a:srgbClr val="3C3E60"/>
                </a:solidFill>
                <a:latin typeface="Arial"/>
                <a:ea typeface="Arial"/>
                <a:cs typeface="Arial"/>
              </a:defRPr>
            </a:pPr>
            <a:r>
              <a:rPr sz="5700" b="1">
                <a:solidFill>
                  <a:srgbClr val="3C3E60"/>
                </a:solidFill>
                <a:latin typeface="Arial"/>
                <a:ea typeface="Arial"/>
                <a:cs typeface="Arial"/>
              </a:rPr>
              <a:t>85.58 ms</a:t>
            </a:r>
          </a:p>
        </p:txBody>
      </p:sp>
      <p:sp>
        <p:nvSpPr>
          <p:cNvPr id="6" name="Recorded duration of the three-drive setup an">
            <a:extLst xmlns:a="http://schemas.openxmlformats.org/drawingml/2006/main">
              <a:ext uri="{FF2B5EF4-FFF2-40B4-BE49-F238E27FC236}">
                <a16:creationId xmlns:a16="http://schemas.microsoft.com/office/drawing/2014/main" id="{28361054-4C06-4AE0-A54E-9BE464931D67}"/>
              </a:ext>
            </a:extLst>
          </p:cNvPr>
          <p:cNvSpPr>
            <a:spLocks xmlns:a="http://schemas.openxmlformats.org/drawingml/2006/main" noGrp="1"/>
          </p:cNvSpPr>
          <p:nvPr/>
        </p:nvSpPr>
        <p:spPr>
          <a:xfrm xmlns:a="http://schemas.openxmlformats.org/drawingml/2006/main">
            <a:off x="666750" y="3429000"/>
            <a:ext cx="1081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75" b="1">
                <a:solidFill>
                  <a:srgbClr val="252527"/>
                </a:solidFill>
                <a:latin typeface="Arial"/>
                <a:ea typeface="Arial"/>
                <a:cs typeface="Arial"/>
              </a:defRPr>
            </a:defPPr>
          </a:lstStyle>
          <a:p xmlns:a="http://schemas.openxmlformats.org/drawingml/2006/main">
            <a:pPr>
              <a:defRPr sz="2175" b="1">
                <a:solidFill>
                  <a:srgbClr val="252527"/>
                </a:solidFill>
                <a:latin typeface="Arial"/>
                <a:ea typeface="Arial"/>
                <a:cs typeface="Arial"/>
              </a:defRPr>
            </a:pPr>
            <a:r>
              <a:rPr sz="2175" b="1">
                <a:solidFill>
                  <a:srgbClr val="252527"/>
                </a:solidFill>
                <a:latin typeface="Arial"/>
                <a:ea typeface="Arial"/>
                <a:cs typeface="Arial"/>
              </a:rPr>
              <a:t>Recorded duration of the three-drive setup and matching loop</a:t>
            </a:r>
          </a:p>
        </p:txBody>
      </p:sp>
      <p:sp>
        <p:nvSpPr>
          <p:cNvPr id="7" name="">
            <a:extLst xmlns:a="http://schemas.openxmlformats.org/drawingml/2006/main">
              <a:ext uri="{FF2B5EF4-FFF2-40B4-BE49-F238E27FC236}">
                <a16:creationId xmlns:a16="http://schemas.microsoft.com/office/drawing/2014/main" id="{2CF70AB3-C6FA-443A-8DDF-0FE81A3A7438}"/>
              </a:ext>
            </a:extLst>
          </p:cNvPr>
          <p:cNvSpPr>
            <a:spLocks xmlns:a="http://schemas.openxmlformats.org/drawingml/2006/main" noGrp="1"/>
          </p:cNvSpPr>
          <p:nvPr/>
        </p:nvSpPr>
        <p:spPr>
          <a:xfrm xmlns:a="http://schemas.openxmlformats.org/drawingml/2006/main">
            <a:off x="666750" y="4210050"/>
            <a:ext cx="10810875"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875" b="0">
                <a:solidFill>
                  <a:srgbClr val="252527"/>
                </a:solidFill>
                <a:latin typeface="Arial"/>
                <a:ea typeface="Arial"/>
                <a:cs typeface="Arial"/>
              </a:defRPr>
            </a:defPPr>
          </a:lstStyle>
          <a:p xmlns:a="http://schemas.openxmlformats.org/drawingml/2006/main">
            <a:pPr marL="254000" indent="-127000">
              <a:spcAft>
                <a:spcPts val="1700"/>
              </a:spcAft>
              <a:buChar char="•"/>
              <a:defRPr sz="1875" b="0">
                <a:solidFill>
                  <a:srgbClr val="252527"/>
                </a:solidFill>
                <a:latin typeface="Arial"/>
                <a:ea typeface="Arial"/>
                <a:cs typeface="Arial"/>
              </a:defRPr>
            </a:pPr>
            <a:r>
              <a:t>Small in-memory run with no concurrent users.</a:t>
            </a:r>
          </a:p>
          <a:p xmlns:a="http://schemas.openxmlformats.org/drawingml/2006/main">
            <a:pPr marL="254000" indent="-127000">
              <a:spcAft>
                <a:spcPts val="1700"/>
              </a:spcAft>
              <a:buChar char="•"/>
              <a:defRPr sz="1875" b="0">
                <a:solidFill>
                  <a:srgbClr val="252527"/>
                </a:solidFill>
                <a:latin typeface="Arial"/>
                <a:ea typeface="Arial"/>
                <a:cs typeface="Arial"/>
              </a:defRPr>
            </a:pPr>
            <a:r>
              <a:t>Later interview, offer and joining checks fall outside the timer.</a:t>
            </a:r>
          </a:p>
          <a:p xmlns:a="http://schemas.openxmlformats.org/drawingml/2006/main">
            <a:pPr marL="254000" indent="-127000">
              <a:spcAft>
                <a:spcPts val="1700"/>
              </a:spcAft>
              <a:buChar char="•"/>
              <a:defRPr sz="1875" b="0">
                <a:solidFill>
                  <a:srgbClr val="252527"/>
                </a:solidFill>
                <a:latin typeface="Arial"/>
                <a:ea typeface="Arial"/>
                <a:cs typeface="Arial"/>
              </a:defRPr>
            </a:pPr>
            <a:r>
              <a:t>Production plan: p50/p95 latency, throughput and failure rate.</a:t>
            </a:r>
          </a:p>
          <a:p xmlns:a="http://schemas.openxmlformats.org/drawingml/2006/main">
            <a:pPr marL="254000" indent="-127000">
              <a:spcAft>
                <a:spcPts val="1700"/>
              </a:spcAft>
              <a:buChar char="•"/>
              <a:defRPr sz="1875" b="0">
                <a:solidFill>
                  <a:srgbClr val="252527"/>
                </a:solidFill>
                <a:latin typeface="Arial"/>
                <a:ea typeface="Arial"/>
                <a:cs typeface="Arial"/>
              </a:defRPr>
            </a:pPr>
            <a:r>
              <a:t>Measure ranking growth, polling traffic and scheduling contention.</a:t>
            </a:r>
          </a:p>
        </p:txBody>
      </p:sp>
    </p:spTree>
    <p:extLst>
      <p:ext uri="{BB962C8B-B14F-4D97-AF65-F5344CB8AC3E}">
        <p14:creationId xmlns:p14="http://schemas.microsoft.com/office/powerpoint/2010/main" val="321498274"/>
      </p:ext>
    </p:extLst>
  </p:cSld>
</p:sld>
</file>

<file path=ppt/slides/slide18.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BED88DE0-B01C-4559-AAFB-5D9B2A01D9D0}"/>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Multi-campus isolation">
            <a:extLst xmlns:a="http://schemas.openxmlformats.org/drawingml/2006/main">
              <a:ext uri="{FF2B5EF4-FFF2-40B4-BE49-F238E27FC236}">
                <a16:creationId xmlns:a16="http://schemas.microsoft.com/office/drawing/2014/main" id="{1297C4FF-7D73-40CD-836C-9BD7B8C70579}"/>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Multi-campus isolation</a:t>
            </a:r>
          </a:p>
        </p:txBody>
      </p:sp>
      <p:sp>
        <p:nvSpPr>
          <p:cNvPr id="3" name="StartX / BPUT Hackathon 2026 / PS10">
            <a:extLst xmlns:a="http://schemas.openxmlformats.org/drawingml/2006/main">
              <a:ext uri="{FF2B5EF4-FFF2-40B4-BE49-F238E27FC236}">
                <a16:creationId xmlns:a16="http://schemas.microsoft.com/office/drawing/2014/main" id="{6045DEC1-24DF-48D5-8DDD-27B5DE02BEDC}"/>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8">
            <a:extLst xmlns:a="http://schemas.openxmlformats.org/drawingml/2006/main">
              <a:ext uri="{FF2B5EF4-FFF2-40B4-BE49-F238E27FC236}">
                <a16:creationId xmlns:a16="http://schemas.microsoft.com/office/drawing/2014/main" id="{D47F4C89-9B05-4485-AF85-FB808EE0A890}"/>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A1C5D5FC-4E12-45A1-824B-E330577CED05}"/>
              </a:ext>
            </a:extLst>
          </p:cNvPr>
          <p:cNvSpPr>
            <a:spLocks xmlns:a="http://schemas.openxmlformats.org/drawingml/2006/main" noGrp="1"/>
          </p:cNvSpPr>
          <p:nvPr/>
        </p:nvSpPr>
        <p:spPr>
          <a:xfrm xmlns:a="http://schemas.openxmlformats.org/drawingml/2006/main">
            <a:off x="666750" y="2066925"/>
            <a:ext cx="10810875"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Students belong to their registered campus.</a:t>
            </a:r>
          </a:p>
          <a:p xmlns:a="http://schemas.openxmlformats.org/drawingml/2006/main">
            <a:pPr marL="254000" indent="-127000">
              <a:spcAft>
                <a:spcPts val="1700"/>
              </a:spcAft>
              <a:buChar char="•"/>
              <a:defRPr sz="2100" b="0">
                <a:solidFill>
                  <a:srgbClr val="252527"/>
                </a:solidFill>
                <a:latin typeface="Arial"/>
                <a:ea typeface="Arial"/>
                <a:cs typeface="Arial"/>
              </a:defRPr>
            </a:pPr>
            <a:r>
              <a:t>Campus teams access institution-scoped records.</a:t>
            </a:r>
          </a:p>
          <a:p xmlns:a="http://schemas.openxmlformats.org/drawingml/2006/main">
            <a:pPr marL="254000" indent="-127000">
              <a:spcAft>
                <a:spcPts val="1700"/>
              </a:spcAft>
              <a:buChar char="•"/>
              <a:defRPr sz="2100" b="0">
                <a:solidFill>
                  <a:srgbClr val="252527"/>
                </a:solidFill>
                <a:latin typeface="Arial"/>
                <a:ea typeface="Arial"/>
                <a:cs typeface="Arial"/>
              </a:defRPr>
            </a:pPr>
            <a:r>
              <a:t>Recruiter partnerships and ownership govern hiring operations.</a:t>
            </a:r>
          </a:p>
          <a:p xmlns:a="http://schemas.openxmlformats.org/drawingml/2006/main">
            <a:pPr marL="254000" indent="-127000">
              <a:spcAft>
                <a:spcPts val="1700"/>
              </a:spcAft>
              <a:buChar char="•"/>
              <a:defRPr sz="2100" b="0">
                <a:solidFill>
                  <a:srgbClr val="252527"/>
                </a:solidFill>
                <a:latin typeface="Arial"/>
                <a:ea typeface="Arial"/>
                <a:cs typeface="Arial"/>
              </a:defRPr>
            </a:pPr>
            <a:r>
              <a:t>Eligibility checks prevent campus-mismatched applications.</a:t>
            </a:r>
          </a:p>
          <a:p xmlns:a="http://schemas.openxmlformats.org/drawingml/2006/main">
            <a:pPr marL="254000" indent="-127000">
              <a:spcAft>
                <a:spcPts val="1700"/>
              </a:spcAft>
              <a:buChar char="•"/>
              <a:defRPr sz="2100" b="0">
                <a:solidFill>
                  <a:srgbClr val="252527"/>
                </a:solidFill>
                <a:latin typeface="Arial"/>
                <a:ea typeface="Arial"/>
                <a:cs typeface="Arial"/>
              </a:defRPr>
            </a:pPr>
            <a:r>
              <a:t>Recruiter availability checks span campuses.</a:t>
            </a:r>
          </a:p>
        </p:txBody>
      </p:sp>
      <p:sp>
        <p:nvSpPr>
          <p:cNvPr id="6" name="Demo coverage: 12 students in the main campus">
            <a:extLst xmlns:a="http://schemas.openxmlformats.org/drawingml/2006/main">
              <a:ext uri="{FF2B5EF4-FFF2-40B4-BE49-F238E27FC236}">
                <a16:creationId xmlns:a16="http://schemas.microsoft.com/office/drawing/2014/main" id="{344F6AD3-F110-4D3A-BA01-F84686ECCE75}"/>
              </a:ext>
            </a:extLst>
          </p:cNvPr>
          <p:cNvSpPr>
            <a:spLocks xmlns:a="http://schemas.openxmlformats.org/drawingml/2006/main" noGrp="1"/>
          </p:cNvSpPr>
          <p:nvPr/>
        </p:nvSpPr>
        <p:spPr>
          <a:xfrm xmlns:a="http://schemas.openxmlformats.org/drawingml/2006/main">
            <a:off x="666750" y="5495925"/>
            <a:ext cx="10810875" cy="600075"/>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950" b="1">
                <a:solidFill>
                  <a:srgbClr val="3C3E60"/>
                </a:solidFill>
                <a:latin typeface="Arial"/>
                <a:ea typeface="Arial"/>
                <a:cs typeface="Arial"/>
              </a:defRPr>
            </a:defPPr>
          </a:lstStyle>
          <a:p xmlns:a="http://schemas.openxmlformats.org/drawingml/2006/main">
            <a:pPr>
              <a:defRPr sz="1950" b="1">
                <a:solidFill>
                  <a:srgbClr val="3C3E60"/>
                </a:solidFill>
                <a:latin typeface="Arial"/>
                <a:ea typeface="Arial"/>
                <a:cs typeface="Arial"/>
              </a:defRPr>
            </a:pPr>
            <a:r>
              <a:rPr sz="1950" b="1">
                <a:solidFill>
                  <a:srgbClr val="3C3E60"/>
                </a:solidFill>
                <a:latin typeface="Arial"/>
                <a:ea typeface="Arial"/>
                <a:cs typeface="Arial"/>
              </a:rPr>
              <a:t>Demo coverage: 12 students in the main campus and one excluded campus profile.</a:t>
            </a:r>
          </a:p>
        </p:txBody>
      </p:sp>
    </p:spTree>
    <p:extLst>
      <p:ext uri="{BB962C8B-B14F-4D97-AF65-F5344CB8AC3E}">
        <p14:creationId xmlns:p14="http://schemas.microsoft.com/office/powerpoint/2010/main" val="229917587"/>
      </p:ext>
    </p:extLst>
  </p:cSld>
</p:sld>
</file>

<file path=ppt/slides/slide19.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0" name="CAMPUSLINK">
            <a:extLst xmlns:a="http://schemas.openxmlformats.org/drawingml/2006/main">
              <a:ext uri="{FF2B5EF4-FFF2-40B4-BE49-F238E27FC236}">
                <a16:creationId xmlns:a16="http://schemas.microsoft.com/office/drawing/2014/main" id="{F2B6B0EE-AA48-42C3-86FC-AFCFA90CD5FE}"/>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Scalability approach">
            <a:extLst xmlns:a="http://schemas.openxmlformats.org/drawingml/2006/main">
              <a:ext uri="{FF2B5EF4-FFF2-40B4-BE49-F238E27FC236}">
                <a16:creationId xmlns:a16="http://schemas.microsoft.com/office/drawing/2014/main" id="{2D4EFCCE-13E3-41C2-B76D-25D5FDFA9B3F}"/>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Scalability approach</a:t>
            </a:r>
          </a:p>
        </p:txBody>
      </p:sp>
      <p:sp>
        <p:nvSpPr>
          <p:cNvPr id="3" name="StartX / BPUT Hackathon 2026 / PS10">
            <a:extLst xmlns:a="http://schemas.openxmlformats.org/drawingml/2006/main">
              <a:ext uri="{FF2B5EF4-FFF2-40B4-BE49-F238E27FC236}">
                <a16:creationId xmlns:a16="http://schemas.microsoft.com/office/drawing/2014/main" id="{1D0E7723-4DBB-44EB-9260-86701C34C7C8}"/>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19">
            <a:extLst xmlns:a="http://schemas.openxmlformats.org/drawingml/2006/main">
              <a:ext uri="{FF2B5EF4-FFF2-40B4-BE49-F238E27FC236}">
                <a16:creationId xmlns:a16="http://schemas.microsoft.com/office/drawing/2014/main" id="{890BE318-55E5-4E68-A132-4F66B65B30DC}"/>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19</a:t>
            </a:r>
          </a:p>
        </p:txBody>
      </p:sp>
      <p:sp>
        <p:nvSpPr>
          <p:cNvPr id="5" name="Current foundation">
            <a:extLst xmlns:a="http://schemas.openxmlformats.org/drawingml/2006/main">
              <a:ext uri="{FF2B5EF4-FFF2-40B4-BE49-F238E27FC236}">
                <a16:creationId xmlns:a16="http://schemas.microsoft.com/office/drawing/2014/main" id="{66DCDEFB-F88C-4EA7-93FF-23F5489AA22C}"/>
              </a:ext>
            </a:extLst>
          </p:cNvPr>
          <p:cNvSpPr>
            <a:spLocks xmlns:a="http://schemas.openxmlformats.org/drawingml/2006/main" noGrp="1"/>
          </p:cNvSpPr>
          <p:nvPr/>
        </p:nvSpPr>
        <p:spPr>
          <a:xfrm xmlns:a="http://schemas.openxmlformats.org/drawingml/2006/main">
            <a:off x="66675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Current foundation</a:t>
            </a:r>
          </a:p>
        </p:txBody>
      </p:sp>
      <p:sp>
        <p:nvSpPr>
          <p:cNvPr id="6" name="Expansion requirements">
            <a:extLst xmlns:a="http://schemas.openxmlformats.org/drawingml/2006/main">
              <a:ext uri="{FF2B5EF4-FFF2-40B4-BE49-F238E27FC236}">
                <a16:creationId xmlns:a16="http://schemas.microsoft.com/office/drawing/2014/main" id="{B5F7AFD3-959A-4F61-8B18-AEB9F456D043}"/>
              </a:ext>
            </a:extLst>
          </p:cNvPr>
          <p:cNvSpPr>
            <a:spLocks xmlns:a="http://schemas.openxmlformats.org/drawingml/2006/main" noGrp="1"/>
          </p:cNvSpPr>
          <p:nvPr/>
        </p:nvSpPr>
        <p:spPr>
          <a:xfrm xmlns:a="http://schemas.openxmlformats.org/drawingml/2006/main">
            <a:off x="628650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Expansion requirements</a:t>
            </a:r>
          </a:p>
        </p:txBody>
      </p:sp>
      <p:sp>
        <p:nvSpPr>
          <p:cNvPr id="7" name="">
            <a:extLst xmlns:a="http://schemas.openxmlformats.org/drawingml/2006/main">
              <a:ext uri="{FF2B5EF4-FFF2-40B4-BE49-F238E27FC236}">
                <a16:creationId xmlns:a16="http://schemas.microsoft.com/office/drawing/2014/main" id="{2F2D8611-010F-4D00-8DA8-85BE2EC6CF9C}"/>
              </a:ext>
            </a:extLst>
          </p:cNvPr>
          <p:cNvSpPr>
            <a:spLocks xmlns:a="http://schemas.openxmlformats.org/drawingml/2006/main" noGrp="1"/>
          </p:cNvSpPr>
          <p:nvPr/>
        </p:nvSpPr>
        <p:spPr>
          <a:xfrm xmlns:a="http://schemas.openxmlformats.org/drawingml/2006/main">
            <a:off x="666750" y="2714625"/>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Authoritative API with PostgreSQL transactions</a:t>
            </a:r>
          </a:p>
          <a:p xmlns:a="http://schemas.openxmlformats.org/drawingml/2006/main">
            <a:pPr marL="254000" indent="-127000">
              <a:spcAft>
                <a:spcPts val="1700"/>
              </a:spcAft>
              <a:buChar char="•"/>
              <a:defRPr sz="2100" b="0">
                <a:solidFill>
                  <a:srgbClr val="252527"/>
                </a:solidFill>
                <a:latin typeface="Arial"/>
                <a:ea typeface="Arial"/>
                <a:cs typeface="Arial"/>
              </a:defRPr>
            </a:pPr>
            <a:r>
              <a:t>Campus and owner indexes for scoped queries</a:t>
            </a:r>
          </a:p>
          <a:p xmlns:a="http://schemas.openxmlformats.org/drawingml/2006/main">
            <a:pPr marL="254000" indent="-127000">
              <a:spcAft>
                <a:spcPts val="1700"/>
              </a:spcAft>
              <a:buChar char="•"/>
              <a:defRPr sz="2100" b="0">
                <a:solidFill>
                  <a:srgbClr val="252527"/>
                </a:solidFill>
                <a:latin typeface="Arial"/>
                <a:ea typeface="Arial"/>
                <a:cs typeface="Arial"/>
              </a:defRPr>
            </a:pPr>
            <a:r>
              <a:t>Batch reads for related records</a:t>
            </a:r>
          </a:p>
        </p:txBody>
      </p:sp>
      <p:sp>
        <p:nvSpPr>
          <p:cNvPr id="8" name="">
            <a:extLst xmlns:a="http://schemas.openxmlformats.org/drawingml/2006/main">
              <a:ext uri="{FF2B5EF4-FFF2-40B4-BE49-F238E27FC236}">
                <a16:creationId xmlns:a16="http://schemas.microsoft.com/office/drawing/2014/main" id="{DCB1E6CF-3196-461F-BF64-5C88FE094D33}"/>
              </a:ext>
            </a:extLst>
          </p:cNvPr>
          <p:cNvSpPr>
            <a:spLocks xmlns:a="http://schemas.openxmlformats.org/drawingml/2006/main" noGrp="1"/>
          </p:cNvSpPr>
          <p:nvPr/>
        </p:nvSpPr>
        <p:spPr>
          <a:xfrm xmlns:a="http://schemas.openxmlformats.org/drawingml/2006/main">
            <a:off x="6286500" y="2714625"/>
            <a:ext cx="51435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Shared rate limiting across API replicas</a:t>
            </a:r>
          </a:p>
          <a:p xmlns:a="http://schemas.openxmlformats.org/drawingml/2006/main">
            <a:pPr marL="254000" indent="-127000">
              <a:spcAft>
                <a:spcPts val="1700"/>
              </a:spcAft>
              <a:buChar char="•"/>
              <a:defRPr sz="2100" b="0">
                <a:solidFill>
                  <a:srgbClr val="252527"/>
                </a:solidFill>
                <a:latin typeface="Arial"/>
                <a:ea typeface="Arial"/>
                <a:cs typeface="Arial"/>
              </a:defRPr>
            </a:pPr>
            <a:r>
              <a:t>Durable queues and exclusive job claims</a:t>
            </a:r>
          </a:p>
          <a:p xmlns:a="http://schemas.openxmlformats.org/drawingml/2006/main">
            <a:pPr marL="254000" indent="-127000">
              <a:spcAft>
                <a:spcPts val="1700"/>
              </a:spcAft>
              <a:buChar char="•"/>
              <a:defRPr sz="2100" b="0">
                <a:solidFill>
                  <a:srgbClr val="252527"/>
                </a:solidFill>
                <a:latin typeface="Arial"/>
                <a:ea typeface="Arial"/>
                <a:cs typeface="Arial"/>
              </a:defRPr>
            </a:pPr>
            <a:r>
              <a:t>Load testing of polling and scheduling locks</a:t>
            </a:r>
          </a:p>
        </p:txBody>
      </p:sp>
      <p:sp>
        <p:nvSpPr>
          <p:cNvPr id="9" name="Multi-campus isolation is implemented. Produc">
            <a:extLst xmlns:a="http://schemas.openxmlformats.org/drawingml/2006/main">
              <a:ext uri="{FF2B5EF4-FFF2-40B4-BE49-F238E27FC236}">
                <a16:creationId xmlns:a16="http://schemas.microsoft.com/office/drawing/2014/main" id="{A9DE32BF-D4DF-4201-B63C-9466657B0FD6}"/>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Multi-campus isolation is implemented. Production capacity remains to be benchmarked.</a:t>
            </a:r>
          </a:p>
        </p:txBody>
      </p:sp>
    </p:spTree>
    <p:extLst>
      <p:ext uri="{BB962C8B-B14F-4D97-AF65-F5344CB8AC3E}">
        <p14:creationId xmlns:p14="http://schemas.microsoft.com/office/powerpoint/2010/main" val="673523053"/>
      </p:ext>
    </p:extLst>
  </p:cSld>
</p:sld>
</file>

<file path=ppt/slides/slide20.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1C715385-1A0A-4061-9B55-49C9294D1D6E}"/>
              </a:ext>
            </a:extLst>
          </p:cNvPr>
          <p:cNvCxnSpPr>
            <a:stCxn xmlns:a="http://schemas.openxmlformats.org/drawingml/2006/main" id="7" idx="2"/>
            <a:endCxn xmlns:a="http://schemas.openxmlformats.org/drawingml/2006/main" id="12" idx="0"/>
          </p:cNvCxnSpPr>
          <p:nvPr/>
        </p:nvCxnSpPr>
        <p:spPr>
          <a:xfrm xmlns:a="http://schemas.openxmlformats.org/drawingml/2006/main">
            <a:off x="8239125" y="3286125"/>
            <a:ext cx="1833563" cy="1162050"/>
          </a:xfrm>
          <a:prstGeom xmlns:a="http://schemas.openxmlformats.org/drawingml/2006/main" prst="bentConnector4">
            <a:avLst>
              <a:gd name="adj1" fmla="val 0"/>
              <a:gd name="adj2" fmla="val 50000"/>
            </a:avLst>
          </a:prstGeom>
          <a:ln xmlns:a="http://schemas.openxmlformats.org/drawingml/2006/main" w="19050">
            <a:solidFill>
              <a:srgbClr val="3C3E60"/>
            </a:solidFill>
            <a:tailEnd type="arrow" w="med" len="med"/>
          </a:ln>
        </p:spPr>
      </p:cxnSp>
      <p:cxnSp>
        <p:nvCxnSpPr>
          <p:cNvPr id="14" name="">
            <a:extLst xmlns:a="http://schemas.openxmlformats.org/drawingml/2006/main">
              <a:ext uri="{FF2B5EF4-FFF2-40B4-BE49-F238E27FC236}">
                <a16:creationId xmlns:a16="http://schemas.microsoft.com/office/drawing/2014/main" id="{A01F8A06-B150-44F0-8B4F-C51F0A01E0B8}"/>
              </a:ext>
            </a:extLst>
          </p:cNvPr>
          <p:cNvCxnSpPr>
            <a:stCxn xmlns:a="http://schemas.openxmlformats.org/drawingml/2006/main" id="7" idx="2"/>
            <a:endCxn xmlns:a="http://schemas.openxmlformats.org/drawingml/2006/main" id="11" idx="0"/>
          </p:cNvCxnSpPr>
          <p:nvPr/>
        </p:nvCxnSpPr>
        <p:spPr>
          <a:xfrm xmlns:a="http://schemas.openxmlformats.org/drawingml/2006/main" flipH="1">
            <a:off x="6119813" y="3286125"/>
            <a:ext cx="2119313" cy="1162050"/>
          </a:xfrm>
          <a:prstGeom xmlns:a="http://schemas.openxmlformats.org/drawingml/2006/main" prst="bentConnector4">
            <a:avLst>
              <a:gd name="adj1" fmla="val 0"/>
              <a:gd name="adj2" fmla="val 50000"/>
            </a:avLst>
          </a:prstGeom>
          <a:ln xmlns:a="http://schemas.openxmlformats.org/drawingml/2006/main" w="19050">
            <a:solidFill>
              <a:srgbClr val="3C3E60"/>
            </a:solidFill>
            <a:tailEnd type="arrow" w="med" len="med"/>
          </a:ln>
        </p:spPr>
      </p:cxnSp>
      <p:cxnSp>
        <p:nvCxnSpPr>
          <p:cNvPr id="13" name="">
            <a:extLst xmlns:a="http://schemas.openxmlformats.org/drawingml/2006/main">
              <a:ext uri="{FF2B5EF4-FFF2-40B4-BE49-F238E27FC236}">
                <a16:creationId xmlns:a16="http://schemas.microsoft.com/office/drawing/2014/main" id="{877057D1-26A5-40EF-8636-4300632C75AE}"/>
              </a:ext>
            </a:extLst>
          </p:cNvPr>
          <p:cNvCxnSpPr>
            <a:stCxn xmlns:a="http://schemas.openxmlformats.org/drawingml/2006/main" id="7" idx="2"/>
            <a:endCxn xmlns:a="http://schemas.openxmlformats.org/drawingml/2006/main" id="10" idx="0"/>
          </p:cNvCxnSpPr>
          <p:nvPr/>
        </p:nvCxnSpPr>
        <p:spPr>
          <a:xfrm xmlns:a="http://schemas.openxmlformats.org/drawingml/2006/main" flipH="1">
            <a:off x="2143125" y="3286125"/>
            <a:ext cx="6096000" cy="1162050"/>
          </a:xfrm>
          <a:prstGeom xmlns:a="http://schemas.openxmlformats.org/drawingml/2006/main" prst="bentConnector4">
            <a:avLst>
              <a:gd name="adj1" fmla="val 0"/>
              <a:gd name="adj2" fmla="val 50000"/>
            </a:avLst>
          </a:prstGeom>
          <a:ln xmlns:a="http://schemas.openxmlformats.org/drawingml/2006/main" w="19050">
            <a:solidFill>
              <a:srgbClr val="3C3E60"/>
            </a:solidFill>
            <a:tailEnd type="arrow" w="med" len="med"/>
          </a:ln>
        </p:spPr>
      </p:cxnSp>
      <p:cxnSp>
        <p:nvCxnSpPr>
          <p:cNvPr id="9" name="">
            <a:extLst xmlns:a="http://schemas.openxmlformats.org/drawingml/2006/main">
              <a:ext uri="{FF2B5EF4-FFF2-40B4-BE49-F238E27FC236}">
                <a16:creationId xmlns:a16="http://schemas.microsoft.com/office/drawing/2014/main" id="{837053A5-B32D-4A8F-B0BE-3AD96522BE08}"/>
              </a:ext>
            </a:extLst>
          </p:cNvPr>
          <p:cNvCxnSpPr>
            <a:stCxn xmlns:a="http://schemas.openxmlformats.org/drawingml/2006/main" id="6" idx="3"/>
            <a:endCxn xmlns:a="http://schemas.openxmlformats.org/drawingml/2006/main" id="7" idx="1"/>
          </p:cNvCxnSpPr>
          <p:nvPr/>
        </p:nvCxnSpPr>
        <p:spPr>
          <a:xfrm xmlns:a="http://schemas.openxmlformats.org/drawingml/2006/main">
            <a:off x="6191250" y="2857500"/>
            <a:ext cx="762000" cy="0"/>
          </a:xfrm>
          <a:prstGeom xmlns:a="http://schemas.openxmlformats.org/drawingml/2006/main" prst="straightConnector1">
            <a:avLst/>
          </a:prstGeom>
          <a:ln xmlns:a="http://schemas.openxmlformats.org/drawingml/2006/main" w="19050">
            <a:solidFill>
              <a:srgbClr val="3C3E60"/>
            </a:solidFill>
            <a:tailEnd type="arrow" w="med" len="med"/>
          </a:ln>
        </p:spPr>
      </p:cxnSp>
      <p:cxnSp>
        <p:nvCxnSpPr>
          <p:cNvPr id="8" name="">
            <a:extLst xmlns:a="http://schemas.openxmlformats.org/drawingml/2006/main">
              <a:ext uri="{FF2B5EF4-FFF2-40B4-BE49-F238E27FC236}">
                <a16:creationId xmlns:a16="http://schemas.microsoft.com/office/drawing/2014/main" id="{368866CD-8891-4B03-ACB9-6C0AA9422D71}"/>
              </a:ext>
            </a:extLst>
          </p:cNvPr>
          <p:cNvCxnSpPr>
            <a:stCxn xmlns:a="http://schemas.openxmlformats.org/drawingml/2006/main" id="5" idx="3"/>
            <a:endCxn xmlns:a="http://schemas.openxmlformats.org/drawingml/2006/main" id="6" idx="1"/>
          </p:cNvCxnSpPr>
          <p:nvPr/>
        </p:nvCxnSpPr>
        <p:spPr>
          <a:xfrm xmlns:a="http://schemas.openxmlformats.org/drawingml/2006/main">
            <a:off x="2952750" y="2857500"/>
            <a:ext cx="762000" cy="0"/>
          </a:xfrm>
          <a:prstGeom xmlns:a="http://schemas.openxmlformats.org/drawingml/2006/main" prst="straightConnector1">
            <a:avLst/>
          </a:prstGeom>
          <a:ln xmlns:a="http://schemas.openxmlformats.org/drawingml/2006/main" w="19050">
            <a:solidFill>
              <a:srgbClr val="3C3E60"/>
            </a:solidFill>
            <a:tailEnd type="arrow" w="med" len="med"/>
          </a:ln>
        </p:spPr>
      </p:cxnSp>
      <p:sp>
        <p:nvSpPr>
          <p:cNvPr id="17" name="CAMPUSLINK">
            <a:extLst xmlns:a="http://schemas.openxmlformats.org/drawingml/2006/main">
              <a:ext uri="{FF2B5EF4-FFF2-40B4-BE49-F238E27FC236}">
                <a16:creationId xmlns:a16="http://schemas.microsoft.com/office/drawing/2014/main" id="{DAAF3587-7F2B-4554-A952-CA3334BEE146}"/>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Deployment architecture">
            <a:extLst xmlns:a="http://schemas.openxmlformats.org/drawingml/2006/main">
              <a:ext uri="{FF2B5EF4-FFF2-40B4-BE49-F238E27FC236}">
                <a16:creationId xmlns:a16="http://schemas.microsoft.com/office/drawing/2014/main" id="{B5EFDA23-0F47-474B-B871-F158F1A3291A}"/>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Deployment architecture</a:t>
            </a:r>
          </a:p>
        </p:txBody>
      </p:sp>
      <p:sp>
        <p:nvSpPr>
          <p:cNvPr id="3" name="StartX / BPUT Hackathon 2026 / PS10">
            <a:extLst xmlns:a="http://schemas.openxmlformats.org/drawingml/2006/main">
              <a:ext uri="{FF2B5EF4-FFF2-40B4-BE49-F238E27FC236}">
                <a16:creationId xmlns:a16="http://schemas.microsoft.com/office/drawing/2014/main" id="{DBA5E92E-D3B4-4F58-86C6-D52EE4193B98}"/>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20">
            <a:extLst xmlns:a="http://schemas.openxmlformats.org/drawingml/2006/main">
              <a:ext uri="{FF2B5EF4-FFF2-40B4-BE49-F238E27FC236}">
                <a16:creationId xmlns:a16="http://schemas.microsoft.com/office/drawing/2014/main" id="{AF1B0CFB-9086-407C-9A21-20A8F8A1C0F6}"/>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20</a:t>
            </a:r>
          </a:p>
        </p:txBody>
      </p:sp>
      <p:sp>
        <p:nvSpPr>
          <p:cNvPr id="5" name="User browser">
            <a:extLst xmlns:a="http://schemas.openxmlformats.org/drawingml/2006/main">
              <a:ext uri="{FF2B5EF4-FFF2-40B4-BE49-F238E27FC236}">
                <a16:creationId xmlns:a16="http://schemas.microsoft.com/office/drawing/2014/main" id="{4F03F0D3-FAAD-4EDB-ADB4-11A4072E0903}"/>
              </a:ext>
            </a:extLst>
          </p:cNvPr>
          <p:cNvSpPr>
            <a:spLocks xmlns:a="http://schemas.openxmlformats.org/drawingml/2006/main" noGrp="1"/>
          </p:cNvSpPr>
          <p:nvPr/>
        </p:nvSpPr>
        <p:spPr>
          <a:xfrm xmlns:a="http://schemas.openxmlformats.org/drawingml/2006/main">
            <a:off x="666750" y="2428875"/>
            <a:ext cx="2286000"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User browser</a:t>
            </a:r>
          </a:p>
        </p:txBody>
      </p:sp>
      <p:sp>
        <p:nvSpPr>
          <p:cNvPr id="6" name="Vercel&#10;Next.js frontend">
            <a:extLst xmlns:a="http://schemas.openxmlformats.org/drawingml/2006/main">
              <a:ext uri="{FF2B5EF4-FFF2-40B4-BE49-F238E27FC236}">
                <a16:creationId xmlns:a16="http://schemas.microsoft.com/office/drawing/2014/main" id="{A9EDDFEC-4543-4F42-B033-69B16C0168A1}"/>
              </a:ext>
            </a:extLst>
          </p:cNvPr>
          <p:cNvSpPr>
            <a:spLocks xmlns:a="http://schemas.openxmlformats.org/drawingml/2006/main" noGrp="1"/>
          </p:cNvSpPr>
          <p:nvPr/>
        </p:nvSpPr>
        <p:spPr>
          <a:xfrm xmlns:a="http://schemas.openxmlformats.org/drawingml/2006/main">
            <a:off x="3714750" y="2428875"/>
            <a:ext cx="2476500"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Vercel</a:t>
            </a:r>
          </a:p>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Next.js frontend</a:t>
            </a:r>
          </a:p>
        </p:txBody>
      </p:sp>
      <p:sp>
        <p:nvSpPr>
          <p:cNvPr id="7" name="Render&#10;Express backend">
            <a:extLst xmlns:a="http://schemas.openxmlformats.org/drawingml/2006/main">
              <a:ext uri="{FF2B5EF4-FFF2-40B4-BE49-F238E27FC236}">
                <a16:creationId xmlns:a16="http://schemas.microsoft.com/office/drawing/2014/main" id="{EBFEFB42-CC38-46D8-97B9-B90BE17C94E9}"/>
              </a:ext>
            </a:extLst>
          </p:cNvPr>
          <p:cNvSpPr>
            <a:spLocks xmlns:a="http://schemas.openxmlformats.org/drawingml/2006/main" noGrp="1"/>
          </p:cNvSpPr>
          <p:nvPr/>
        </p:nvSpPr>
        <p:spPr>
          <a:xfrm xmlns:a="http://schemas.openxmlformats.org/drawingml/2006/main">
            <a:off x="6953250" y="2428875"/>
            <a:ext cx="2571750"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Render</a:t>
            </a:r>
          </a:p>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Express backend</a:t>
            </a:r>
          </a:p>
        </p:txBody>
      </p:sp>
      <p:sp>
        <p:nvSpPr>
          <p:cNvPr id="10" name="PostgreSQL">
            <a:extLst xmlns:a="http://schemas.openxmlformats.org/drawingml/2006/main">
              <a:ext uri="{FF2B5EF4-FFF2-40B4-BE49-F238E27FC236}">
                <a16:creationId xmlns:a16="http://schemas.microsoft.com/office/drawing/2014/main" id="{75E34BAC-8A51-4028-8001-182F42CBC41F}"/>
              </a:ext>
            </a:extLst>
          </p:cNvPr>
          <p:cNvSpPr>
            <a:spLocks xmlns:a="http://schemas.openxmlformats.org/drawingml/2006/main" noGrp="1"/>
          </p:cNvSpPr>
          <p:nvPr/>
        </p:nvSpPr>
        <p:spPr>
          <a:xfrm xmlns:a="http://schemas.openxmlformats.org/drawingml/2006/main">
            <a:off x="666750" y="4448175"/>
            <a:ext cx="2952750"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PostgreSQL</a:t>
            </a:r>
          </a:p>
        </p:txBody>
      </p:sp>
      <p:sp>
        <p:nvSpPr>
          <p:cNvPr id="11" name="Supabase private storage">
            <a:extLst xmlns:a="http://schemas.openxmlformats.org/drawingml/2006/main">
              <a:ext uri="{FF2B5EF4-FFF2-40B4-BE49-F238E27FC236}">
                <a16:creationId xmlns:a16="http://schemas.microsoft.com/office/drawing/2014/main" id="{989937A9-6B32-4990-B98E-8114D1CF0890}"/>
              </a:ext>
            </a:extLst>
          </p:cNvPr>
          <p:cNvSpPr>
            <a:spLocks xmlns:a="http://schemas.openxmlformats.org/drawingml/2006/main" noGrp="1"/>
          </p:cNvSpPr>
          <p:nvPr/>
        </p:nvSpPr>
        <p:spPr>
          <a:xfrm xmlns:a="http://schemas.openxmlformats.org/drawingml/2006/main">
            <a:off x="4524375" y="4448175"/>
            <a:ext cx="3190875"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Supabase private storage</a:t>
            </a:r>
          </a:p>
        </p:txBody>
      </p:sp>
      <p:sp>
        <p:nvSpPr>
          <p:cNvPr id="12" name="Resend email">
            <a:extLst xmlns:a="http://schemas.openxmlformats.org/drawingml/2006/main">
              <a:ext uri="{FF2B5EF4-FFF2-40B4-BE49-F238E27FC236}">
                <a16:creationId xmlns:a16="http://schemas.microsoft.com/office/drawing/2014/main" id="{B32AE5E2-CACC-4643-85BD-86EE95BA5F53}"/>
              </a:ext>
            </a:extLst>
          </p:cNvPr>
          <p:cNvSpPr>
            <a:spLocks xmlns:a="http://schemas.openxmlformats.org/drawingml/2006/main" noGrp="1"/>
          </p:cNvSpPr>
          <p:nvPr/>
        </p:nvSpPr>
        <p:spPr>
          <a:xfrm xmlns:a="http://schemas.openxmlformats.org/drawingml/2006/main">
            <a:off x="8620125" y="4448175"/>
            <a:ext cx="2905125" cy="857250"/>
          </a:xfrm>
          <a:prstGeom xmlns:a="http://schemas.openxmlformats.org/drawingml/2006/main" prst="rect">
            <a:avLst/>
          </a:prstGeom>
          <a:solidFill xmlns:a="http://schemas.openxmlformats.org/drawingml/2006/main">
            <a:srgbClr val="CDC2DB"/>
          </a:solidFill>
          <a:ln xmlns:a="http://schemas.openxmlformats.org/drawingml/2006/main" w="14288">
            <a:solidFill>
              <a:srgbClr val="3C3E60"/>
            </a:solidFill>
          </a:ln>
        </p:spPr>
        <p:txBody>
          <a:bodyPr xmlns:a="http://schemas.openxmlformats.org/drawingml/2006/main" lIns="114300" tIns="114300" rIns="114300" bIns="114300" anchor="ctr"/>
          <a:lstStyle xmlns:a="http://schemas.openxmlformats.org/drawingml/2006/main">
            <a:defPPr algn="ctr">
              <a:defRPr sz="1800" b="1">
                <a:solidFill>
                  <a:srgbClr val="3C3E60"/>
                </a:solidFill>
                <a:latin typeface="Arial"/>
                <a:ea typeface="Arial"/>
                <a:cs typeface="Arial"/>
              </a:defRPr>
            </a:defPPr>
          </a:lstStyle>
          <a:p xmlns:a="http://schemas.openxmlformats.org/drawingml/2006/main">
            <a:pPr algn="ctr">
              <a:defRPr sz="1800" b="1">
                <a:solidFill>
                  <a:srgbClr val="3C3E60"/>
                </a:solidFill>
                <a:latin typeface="Arial"/>
                <a:ea typeface="Arial"/>
                <a:cs typeface="Arial"/>
              </a:defRPr>
            </a:pPr>
            <a:r>
              <a:rPr sz="1800" b="1">
                <a:solidFill>
                  <a:srgbClr val="3C3E60"/>
                </a:solidFill>
                <a:latin typeface="Arial"/>
                <a:ea typeface="Arial"/>
                <a:cs typeface="Arial"/>
              </a:rPr>
              <a:t>Resend email</a:t>
            </a:r>
          </a:p>
        </p:txBody>
      </p:sp>
      <p:sp>
        <p:nvSpPr>
          <p:cNvPr id="16" name="Backend-only credentials. Frontend requests u">
            <a:extLst xmlns:a="http://schemas.openxmlformats.org/drawingml/2006/main">
              <a:ext uri="{FF2B5EF4-FFF2-40B4-BE49-F238E27FC236}">
                <a16:creationId xmlns:a16="http://schemas.microsoft.com/office/drawing/2014/main" id="{3FC04511-D6B2-4F1E-A068-1A0163317707}"/>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Backend-only credentials. Frontend requests use the same-origin /api/v1 proxy.</a:t>
            </a:r>
          </a:p>
        </p:txBody>
      </p:sp>
    </p:spTree>
    <p:extLst>
      <p:ext uri="{BB962C8B-B14F-4D97-AF65-F5344CB8AC3E}">
        <p14:creationId xmlns:p14="http://schemas.microsoft.com/office/powerpoint/2010/main" val="1406225643"/>
      </p:ext>
    </p:extLst>
  </p:cSld>
</p:sld>
</file>

<file path=ppt/slides/slide21.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D54E4CB9-67C2-4376-B8F6-89F935A2EA92}"/>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Configuration and operational checks">
            <a:extLst xmlns:a="http://schemas.openxmlformats.org/drawingml/2006/main">
              <a:ext uri="{FF2B5EF4-FFF2-40B4-BE49-F238E27FC236}">
                <a16:creationId xmlns:a16="http://schemas.microsoft.com/office/drawing/2014/main" id="{008A9531-7953-414E-8734-75AB850C6763}"/>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Configuration and operational checks</a:t>
            </a:r>
          </a:p>
        </p:txBody>
      </p:sp>
      <p:sp>
        <p:nvSpPr>
          <p:cNvPr id="3" name="StartX / BPUT Hackathon 2026 / PS10">
            <a:extLst xmlns:a="http://schemas.openxmlformats.org/drawingml/2006/main">
              <a:ext uri="{FF2B5EF4-FFF2-40B4-BE49-F238E27FC236}">
                <a16:creationId xmlns:a16="http://schemas.microsoft.com/office/drawing/2014/main" id="{01ACCCF4-1D6D-441B-959A-8B43FBBFDCBC}"/>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21">
            <a:extLst xmlns:a="http://schemas.openxmlformats.org/drawingml/2006/main">
              <a:ext uri="{FF2B5EF4-FFF2-40B4-BE49-F238E27FC236}">
                <a16:creationId xmlns:a16="http://schemas.microsoft.com/office/drawing/2014/main" id="{ED65F455-741C-4B72-AA65-E2B112FE0C4A}"/>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E4F72ED8-D111-4452-BCAB-57A6918D6D05}"/>
              </a:ext>
            </a:extLst>
          </p:cNvPr>
          <p:cNvSpPr>
            <a:spLocks xmlns:a="http://schemas.openxmlformats.org/drawingml/2006/main" noGrp="1"/>
          </p:cNvSpPr>
          <p:nvPr/>
        </p:nvSpPr>
        <p:spPr>
          <a:xfrm xmlns:a="http://schemas.openxmlformats.org/drawingml/2006/main">
            <a:off x="666750" y="2047875"/>
            <a:ext cx="10810875" cy="3257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Local setup: Node.js 24, repository install and npm run dev.</a:t>
            </a:r>
          </a:p>
          <a:p xmlns:a="http://schemas.openxmlformats.org/drawingml/2006/main">
            <a:pPr marL="254000" indent="-127000">
              <a:spcAft>
                <a:spcPts val="1700"/>
              </a:spcAft>
              <a:buChar char="•"/>
              <a:defRPr sz="2100" b="0">
                <a:solidFill>
                  <a:srgbClr val="252527"/>
                </a:solidFill>
                <a:latin typeface="Arial"/>
                <a:ea typeface="Arial"/>
                <a:cs typeface="Arial"/>
              </a:defRPr>
            </a:pPr>
            <a:r>
              <a:t>Build frontend and backend before deploying.</a:t>
            </a:r>
          </a:p>
          <a:p xmlns:a="http://schemas.openxmlformats.org/drawingml/2006/main">
            <a:pPr marL="254000" indent="-127000">
              <a:spcAft>
                <a:spcPts val="1700"/>
              </a:spcAft>
              <a:buChar char="•"/>
              <a:defRPr sz="2100" b="0">
                <a:solidFill>
                  <a:srgbClr val="252527"/>
                </a:solidFill>
                <a:latin typeface="Arial"/>
                <a:ea typeface="Arial"/>
                <a:cs typeface="Arial"/>
              </a:defRPr>
            </a:pPr>
            <a:r>
              <a:t>Configure database, private storage, email and frontend origin.</a:t>
            </a:r>
          </a:p>
          <a:p xmlns:a="http://schemas.openxmlformats.org/drawingml/2006/main">
            <a:pPr marL="254000" indent="-127000">
              <a:spcAft>
                <a:spcPts val="1700"/>
              </a:spcAft>
              <a:buChar char="•"/>
              <a:defRPr sz="2100" b="0">
                <a:solidFill>
                  <a:srgbClr val="252527"/>
                </a:solidFill>
                <a:latin typeface="Arial"/>
                <a:ea typeface="Arial"/>
                <a:cs typeface="Arial"/>
              </a:defRPr>
            </a:pPr>
            <a:r>
              <a:t>Keep secrets in backend settings and validate database TLS.</a:t>
            </a:r>
          </a:p>
          <a:p xmlns:a="http://schemas.openxmlformats.org/drawingml/2006/main">
            <a:pPr marL="254000" indent="-127000">
              <a:spcAft>
                <a:spcPts val="1700"/>
              </a:spcAft>
              <a:buChar char="•"/>
              <a:defRPr sz="2100" b="0">
                <a:solidFill>
                  <a:srgbClr val="252527"/>
                </a:solidFill>
                <a:latin typeface="Arial"/>
                <a:ea typeface="Arial"/>
                <a:cs typeface="Arial"/>
              </a:defRPr>
            </a:pPr>
            <a:r>
              <a:t>Verify health, login, approvals, uploads and password recovery.</a:t>
            </a:r>
          </a:p>
        </p:txBody>
      </p:sp>
      <p:sp>
        <p:nvSpPr>
          <p:cNvPr id="6" name="Email and reminder workers need a persistent ">
            <a:extLst xmlns:a="http://schemas.openxmlformats.org/drawingml/2006/main">
              <a:ext uri="{FF2B5EF4-FFF2-40B4-BE49-F238E27FC236}">
                <a16:creationId xmlns:a16="http://schemas.microsoft.com/office/drawing/2014/main" id="{2CD71B06-F26C-4175-BB94-8B1071B2E531}"/>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Email and reminder workers need a persistent backend process.</a:t>
            </a:r>
          </a:p>
        </p:txBody>
      </p:sp>
    </p:spTree>
    <p:extLst>
      <p:ext uri="{BB962C8B-B14F-4D97-AF65-F5344CB8AC3E}">
        <p14:creationId xmlns:p14="http://schemas.microsoft.com/office/powerpoint/2010/main" val="128900088"/>
      </p:ext>
    </p:extLst>
  </p:cSld>
</p:sld>
</file>

<file path=ppt/slides/slide22.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10" name="CAMPUSLINK">
            <a:extLst xmlns:a="http://schemas.openxmlformats.org/drawingml/2006/main">
              <a:ext uri="{FF2B5EF4-FFF2-40B4-BE49-F238E27FC236}">
                <a16:creationId xmlns:a16="http://schemas.microsoft.com/office/drawing/2014/main" id="{A4249799-EFC7-4384-9E08-D18922207B11}"/>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Technical findings and next steps">
            <a:extLst xmlns:a="http://schemas.openxmlformats.org/drawingml/2006/main">
              <a:ext uri="{FF2B5EF4-FFF2-40B4-BE49-F238E27FC236}">
                <a16:creationId xmlns:a16="http://schemas.microsoft.com/office/drawing/2014/main" id="{034FFD8B-FFF2-4D4D-9DB0-4D8BB4963888}"/>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Technical findings and next steps</a:t>
            </a:r>
          </a:p>
        </p:txBody>
      </p:sp>
      <p:sp>
        <p:nvSpPr>
          <p:cNvPr id="3" name="StartX / BPUT Hackathon 2026 / PS10">
            <a:extLst xmlns:a="http://schemas.openxmlformats.org/drawingml/2006/main">
              <a:ext uri="{FF2B5EF4-FFF2-40B4-BE49-F238E27FC236}">
                <a16:creationId xmlns:a16="http://schemas.microsoft.com/office/drawing/2014/main" id="{D9DE7756-6515-47F6-B8A6-ECB5FA8E4BB9}"/>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22">
            <a:extLst xmlns:a="http://schemas.openxmlformats.org/drawingml/2006/main">
              <a:ext uri="{FF2B5EF4-FFF2-40B4-BE49-F238E27FC236}">
                <a16:creationId xmlns:a16="http://schemas.microsoft.com/office/drawing/2014/main" id="{BCB18E9C-68A2-4576-B593-750F607CB681}"/>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22</a:t>
            </a:r>
          </a:p>
        </p:txBody>
      </p:sp>
      <p:sp>
        <p:nvSpPr>
          <p:cNvPr id="5" name="Implemented and demonstrated">
            <a:extLst xmlns:a="http://schemas.openxmlformats.org/drawingml/2006/main">
              <a:ext uri="{FF2B5EF4-FFF2-40B4-BE49-F238E27FC236}">
                <a16:creationId xmlns:a16="http://schemas.microsoft.com/office/drawing/2014/main" id="{CAEFF9DB-5EDD-4E8A-9ED3-60BA43BD8096}"/>
              </a:ext>
            </a:extLst>
          </p:cNvPr>
          <p:cNvSpPr>
            <a:spLocks xmlns:a="http://schemas.openxmlformats.org/drawingml/2006/main" noGrp="1"/>
          </p:cNvSpPr>
          <p:nvPr/>
        </p:nvSpPr>
        <p:spPr>
          <a:xfrm xmlns:a="http://schemas.openxmlformats.org/drawingml/2006/main">
            <a:off x="66675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Implemented and demonstrated</a:t>
            </a:r>
          </a:p>
        </p:txBody>
      </p:sp>
      <p:sp>
        <p:nvSpPr>
          <p:cNvPr id="6" name="Next validation stages">
            <a:extLst xmlns:a="http://schemas.openxmlformats.org/drawingml/2006/main">
              <a:ext uri="{FF2B5EF4-FFF2-40B4-BE49-F238E27FC236}">
                <a16:creationId xmlns:a16="http://schemas.microsoft.com/office/drawing/2014/main" id="{FE752B61-D217-4E46-BAF8-42F2CF482200}"/>
              </a:ext>
            </a:extLst>
          </p:cNvPr>
          <p:cNvSpPr>
            <a:spLocks xmlns:a="http://schemas.openxmlformats.org/drawingml/2006/main" noGrp="1"/>
          </p:cNvSpPr>
          <p:nvPr/>
        </p:nvSpPr>
        <p:spPr>
          <a:xfrm xmlns:a="http://schemas.openxmlformats.org/drawingml/2006/main">
            <a:off x="6286500" y="2009775"/>
            <a:ext cx="5238750" cy="4572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2100" b="1">
                <a:solidFill>
                  <a:srgbClr val="3C3E60"/>
                </a:solidFill>
                <a:latin typeface="Arial"/>
                <a:ea typeface="Arial"/>
                <a:cs typeface="Arial"/>
              </a:defRPr>
            </a:defPPr>
          </a:lstStyle>
          <a:p xmlns:a="http://schemas.openxmlformats.org/drawingml/2006/main">
            <a:pPr>
              <a:defRPr sz="2100" b="1">
                <a:solidFill>
                  <a:srgbClr val="3C3E60"/>
                </a:solidFill>
                <a:latin typeface="Arial"/>
                <a:ea typeface="Arial"/>
                <a:cs typeface="Arial"/>
              </a:defRPr>
            </a:pPr>
            <a:r>
              <a:rPr sz="2100" b="1">
                <a:solidFill>
                  <a:srgbClr val="3C3E60"/>
                </a:solidFill>
                <a:latin typeface="Arial"/>
                <a:ea typeface="Arial"/>
                <a:cs typeface="Arial"/>
              </a:rPr>
              <a:t>Next validation stages</a:t>
            </a:r>
          </a:p>
        </p:txBody>
      </p:sp>
      <p:sp>
        <p:nvSpPr>
          <p:cNvPr id="7" name="">
            <a:extLst xmlns:a="http://schemas.openxmlformats.org/drawingml/2006/main">
              <a:ext uri="{FF2B5EF4-FFF2-40B4-BE49-F238E27FC236}">
                <a16:creationId xmlns:a16="http://schemas.microsoft.com/office/drawing/2014/main" id="{E19FA64F-6D7C-40E7-B47D-A504B6630DE3}"/>
              </a:ext>
            </a:extLst>
          </p:cNvPr>
          <p:cNvSpPr>
            <a:spLocks xmlns:a="http://schemas.openxmlformats.org/drawingml/2006/main" noGrp="1"/>
          </p:cNvSpPr>
          <p:nvPr/>
        </p:nvSpPr>
        <p:spPr>
          <a:xfrm xmlns:a="http://schemas.openxmlformats.org/drawingml/2006/main">
            <a:off x="666750" y="2714625"/>
            <a:ext cx="5143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Connected placement lifecycle</a:t>
            </a:r>
          </a:p>
          <a:p xmlns:a="http://schemas.openxmlformats.org/drawingml/2006/main">
            <a:pPr marL="254000" indent="-127000">
              <a:spcAft>
                <a:spcPts val="1700"/>
              </a:spcAft>
              <a:buChar char="•"/>
              <a:defRPr sz="2100" b="0">
                <a:solidFill>
                  <a:srgbClr val="252527"/>
                </a:solidFill>
                <a:latin typeface="Arial"/>
                <a:ea typeface="Arial"/>
                <a:cs typeface="Arial"/>
              </a:defRPr>
            </a:pPr>
            <a:r>
              <a:t>Explainable rules and NLP matching</a:t>
            </a:r>
          </a:p>
          <a:p xmlns:a="http://schemas.openxmlformats.org/drawingml/2006/main">
            <a:pPr marL="254000" indent="-127000">
              <a:spcAft>
                <a:spcPts val="1700"/>
              </a:spcAft>
              <a:buChar char="•"/>
              <a:defRPr sz="2100" b="0">
                <a:solidFill>
                  <a:srgbClr val="252527"/>
                </a:solidFill>
                <a:latin typeface="Arial"/>
                <a:ea typeface="Arial"/>
                <a:cs typeface="Arial"/>
              </a:defRPr>
            </a:pPr>
            <a:r>
              <a:t>Synthetic eligibility and ranking checks</a:t>
            </a:r>
          </a:p>
        </p:txBody>
      </p:sp>
      <p:sp>
        <p:nvSpPr>
          <p:cNvPr id="8" name="">
            <a:extLst xmlns:a="http://schemas.openxmlformats.org/drawingml/2006/main">
              <a:ext uri="{FF2B5EF4-FFF2-40B4-BE49-F238E27FC236}">
                <a16:creationId xmlns:a16="http://schemas.microsoft.com/office/drawing/2014/main" id="{668390D9-BDE1-40FA-9B69-426FF382E3BC}"/>
              </a:ext>
            </a:extLst>
          </p:cNvPr>
          <p:cNvSpPr>
            <a:spLocks xmlns:a="http://schemas.openxmlformats.org/drawingml/2006/main" noGrp="1"/>
          </p:cNvSpPr>
          <p:nvPr/>
        </p:nvSpPr>
        <p:spPr>
          <a:xfrm xmlns:a="http://schemas.openxmlformats.org/drawingml/2006/main">
            <a:off x="6286500" y="2714625"/>
            <a:ext cx="5143500"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100" b="0">
                <a:solidFill>
                  <a:srgbClr val="252527"/>
                </a:solidFill>
                <a:latin typeface="Arial"/>
                <a:ea typeface="Arial"/>
                <a:cs typeface="Arial"/>
              </a:defRPr>
            </a:defPPr>
          </a:lstStyle>
          <a:p xmlns:a="http://schemas.openxmlformats.org/drawingml/2006/main">
            <a:pPr marL="254000" indent="-127000">
              <a:spcAft>
                <a:spcPts val="1700"/>
              </a:spcAft>
              <a:buChar char="•"/>
              <a:defRPr sz="2100" b="0">
                <a:solidFill>
                  <a:srgbClr val="252527"/>
                </a:solidFill>
                <a:latin typeface="Arial"/>
                <a:ea typeface="Arial"/>
                <a:cs typeface="Arial"/>
              </a:defRPr>
            </a:pPr>
            <a:r>
              <a:t>College pilot and usability measurements</a:t>
            </a:r>
          </a:p>
          <a:p xmlns:a="http://schemas.openxmlformats.org/drawingml/2006/main">
            <a:pPr marL="254000" indent="-127000">
              <a:spcAft>
                <a:spcPts val="1700"/>
              </a:spcAft>
              <a:buChar char="•"/>
              <a:defRPr sz="2100" b="0">
                <a:solidFill>
                  <a:srgbClr val="252527"/>
                </a:solidFill>
                <a:latin typeface="Arial"/>
                <a:ea typeface="Arial"/>
                <a:cs typeface="Arial"/>
              </a:defRPr>
            </a:pPr>
            <a:r>
              <a:t>Production load and contention benchmarks</a:t>
            </a:r>
          </a:p>
          <a:p xmlns:a="http://schemas.openxmlformats.org/drawingml/2006/main">
            <a:pPr marL="254000" indent="-127000">
              <a:spcAft>
                <a:spcPts val="1700"/>
              </a:spcAft>
              <a:buChar char="•"/>
              <a:defRPr sz="2100" b="0">
                <a:solidFill>
                  <a:srgbClr val="252527"/>
                </a:solidFill>
                <a:latin typeface="Arial"/>
                <a:ea typeface="Arial"/>
                <a:cs typeface="Arial"/>
              </a:defRPr>
            </a:pPr>
            <a:r>
              <a:t>Independent scoring and historical-model validation</a:t>
            </a:r>
          </a:p>
        </p:txBody>
      </p:sp>
      <p:sp>
        <p:nvSpPr>
          <p:cNvPr id="9" name="The next milestone is a measured institutiona">
            <a:extLst xmlns:a="http://schemas.openxmlformats.org/drawingml/2006/main">
              <a:ext uri="{FF2B5EF4-FFF2-40B4-BE49-F238E27FC236}">
                <a16:creationId xmlns:a16="http://schemas.microsoft.com/office/drawing/2014/main" id="{D014193A-872C-4947-9A35-EBD3835C5B66}"/>
              </a:ext>
            </a:extLst>
          </p:cNvPr>
          <p:cNvSpPr>
            <a:spLocks xmlns:a="http://schemas.openxmlformats.org/drawingml/2006/main" noGrp="1"/>
          </p:cNvSpPr>
          <p:nvPr/>
        </p:nvSpPr>
        <p:spPr>
          <a:xfrm xmlns:a="http://schemas.openxmlformats.org/drawingml/2006/main">
            <a:off x="666750" y="58578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500" b="0">
                <a:solidFill>
                  <a:srgbClr val="3C3E60"/>
                </a:solidFill>
                <a:latin typeface="Arial"/>
                <a:ea typeface="Arial"/>
                <a:cs typeface="Arial"/>
              </a:defRPr>
            </a:defPPr>
          </a:lstStyle>
          <a:p xmlns:a="http://schemas.openxmlformats.org/drawingml/2006/main">
            <a:pPr>
              <a:defRPr sz="1500" b="0">
                <a:solidFill>
                  <a:srgbClr val="3C3E60"/>
                </a:solidFill>
                <a:latin typeface="Arial"/>
                <a:ea typeface="Arial"/>
                <a:cs typeface="Arial"/>
              </a:defRPr>
            </a:pPr>
            <a:r>
              <a:rPr sz="1500" b="0">
                <a:solidFill>
                  <a:srgbClr val="3C3E60"/>
                </a:solidFill>
                <a:latin typeface="Arial"/>
                <a:ea typeface="Arial"/>
                <a:cs typeface="Arial"/>
              </a:rPr>
              <a:t>The next milestone is a measured institutional pilot.</a:t>
            </a:r>
          </a:p>
        </p:txBody>
      </p:sp>
    </p:spTree>
    <p:extLst>
      <p:ext uri="{BB962C8B-B14F-4D97-AF65-F5344CB8AC3E}">
        <p14:creationId xmlns:p14="http://schemas.microsoft.com/office/powerpoint/2010/main" val="491379602"/>
      </p:ext>
    </p:extLst>
  </p:cSld>
</p:sld>
</file>

<file path=ppt/slides/slide23.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6" name="CAMPUSLINK">
            <a:extLst xmlns:a="http://schemas.openxmlformats.org/drawingml/2006/main">
              <a:ext uri="{FF2B5EF4-FFF2-40B4-BE49-F238E27FC236}">
                <a16:creationId xmlns:a16="http://schemas.microsoft.com/office/drawing/2014/main" id="{6172CB87-4BF6-410C-B222-E02FB3F4ED87}"/>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References">
            <a:extLst xmlns:a="http://schemas.openxmlformats.org/drawingml/2006/main">
              <a:ext uri="{FF2B5EF4-FFF2-40B4-BE49-F238E27FC236}">
                <a16:creationId xmlns:a16="http://schemas.microsoft.com/office/drawing/2014/main" id="{A27DB9FC-844B-4E1F-BCAB-188FE92C66CD}"/>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References</a:t>
            </a:r>
          </a:p>
        </p:txBody>
      </p:sp>
      <p:sp>
        <p:nvSpPr>
          <p:cNvPr id="3" name="StartX / BPUT Hackathon 2026 / PS10">
            <a:extLst xmlns:a="http://schemas.openxmlformats.org/drawingml/2006/main">
              <a:ext uri="{FF2B5EF4-FFF2-40B4-BE49-F238E27FC236}">
                <a16:creationId xmlns:a16="http://schemas.microsoft.com/office/drawing/2014/main" id="{F668FBF7-DAE1-4E5F-8D66-F261D76A234D}"/>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23">
            <a:extLst xmlns:a="http://schemas.openxmlformats.org/drawingml/2006/main">
              <a:ext uri="{FF2B5EF4-FFF2-40B4-BE49-F238E27FC236}">
                <a16:creationId xmlns:a16="http://schemas.microsoft.com/office/drawing/2014/main" id="{CD8B71CD-3D41-4CC9-A692-0436DF8F2A37}"/>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23</a:t>
            </a:r>
          </a:p>
        </p:txBody>
      </p:sp>
      <p:graphicFrame>
        <p:nvGraphicFramePr>
          <p:cNvPr id="5" name="">
            <a:extLst xmlns:a="http://schemas.openxmlformats.org/drawingml/2006/main">
              <a:ext uri="{FF2B5EF4-FFF2-40B4-BE49-F238E27FC236}">
                <a16:creationId xmlns:a16="http://schemas.microsoft.com/office/drawing/2014/main" id="{12F8BC98-1ACE-44CB-BC96-5A8A69358EF4}"/>
              </a:ext>
            </a:extLst>
          </p:cNvPr>
          <p:cNvGraphicFramePr/>
          <p:nvPr/>
        </p:nvGraphicFramePr>
        <p:xfrm>
          <a:off xmlns:a="http://schemas.openxmlformats.org/drawingml/2006/main" x="666750" y="2009775"/>
          <a:ext xmlns:a="http://schemas.openxmlformats.org/drawingml/2006/main" cx="10839450" cy="3619500"/>
        </p:xfrm>
        <a:graphic xmlns:a="http://schemas.openxmlformats.org/drawingml/2006/main">
          <a:graphicData uri="http://schemas.openxmlformats.org/drawingml/2006/table">
            <a:tbl>
              <a:tblPr/>
              <a:tblGrid>
                <a:gridCol w="3190875"/>
                <a:gridCol w="7648575"/>
              </a:tblGrid>
              <a:tr h="517071">
                <a:tc>
                  <a:txBody>
                    <a:bodyPr/>
                    <a:lstStyle/>
                    <a:p>
                      <a:r>
                        <a:rPr sz="1800" b="1">
                          <a:solidFill>
                            <a:srgbClr val="3C3E60"/>
                          </a:solidFill>
                          <a:latin typeface="Arial"/>
                          <a:ea typeface="Arial"/>
                          <a:cs typeface="Arial"/>
                        </a:rPr>
                        <a:t>Technical topic</a:t>
                      </a:r>
                    </a:p>
                  </a:txBody>
                  <a:tcPr marL="114300" marR="114300" marT="95250" marB="95250">
                    <a:solidFill>
                      <a:srgbClr val="CDC2DB"/>
                    </a:solidFill>
                  </a:tcPr>
                </a:tc>
                <a:tc>
                  <a:txBody>
                    <a:bodyPr/>
                    <a:lstStyle/>
                    <a:p>
                      <a:r>
                        <a:rPr sz="1800" b="1">
                          <a:solidFill>
                            <a:srgbClr val="3C3E60"/>
                          </a:solidFill>
                          <a:latin typeface="Arial"/>
                          <a:ea typeface="Arial"/>
                          <a:cs typeface="Arial"/>
                        </a:rPr>
                        <a:t>Repository source</a:t>
                      </a:r>
                    </a:p>
                  </a:txBody>
                  <a:tcPr marL="114300" marR="114300" marT="95250" marB="95250">
                    <a:solidFill>
                      <a:srgbClr val="CDC2DB"/>
                    </a:solidFill>
                  </a:tcPr>
                </a:tc>
              </a:tr>
              <a:tr h="517071">
                <a:tc>
                  <a:txBody>
                    <a:bodyPr/>
                    <a:lstStyle/>
                    <a:p>
                      <a:r>
                        <a:rPr sz="1800">
                          <a:solidFill>
                            <a:srgbClr val="252527"/>
                          </a:solidFill>
                          <a:latin typeface="Arial"/>
                          <a:ea typeface="Arial"/>
                          <a:cs typeface="Arial"/>
                        </a:rPr>
                        <a:t>Architecture and data</a:t>
                      </a:r>
                    </a:p>
                  </a:txBody>
                  <a:tcPr marL="114300" marR="114300" marT="95250" marB="95250">
                    <a:solidFill>
                      <a:srgbClr val="F1EEE4"/>
                    </a:solidFill>
                  </a:tcPr>
                </a:tc>
                <a:tc>
                  <a:txBody>
                    <a:bodyPr/>
                    <a:lstStyle/>
                    <a:p>
                      <a:r>
                        <a:rPr sz="1800">
                          <a:solidFill>
                            <a:srgbClr val="252527"/>
                          </a:solidFill>
                          <a:latin typeface="Arial"/>
                          <a:ea typeface="Arial"/>
                          <a:cs typeface="Arial"/>
                        </a:rPr>
                        <a:t>README.md, server/API.md, server/DATABASE.md</a:t>
                      </a:r>
                    </a:p>
                  </a:txBody>
                  <a:tcPr marL="114300" marR="114300" marT="95250" marB="95250">
                    <a:solidFill>
                      <a:srgbClr val="F1EEE4"/>
                    </a:solidFill>
                  </a:tcPr>
                </a:tc>
              </a:tr>
              <a:tr h="517071">
                <a:tc>
                  <a:txBody>
                    <a:bodyPr/>
                    <a:lstStyle/>
                    <a:p>
                      <a:r>
                        <a:rPr sz="1800">
                          <a:solidFill>
                            <a:srgbClr val="252527"/>
                          </a:solidFill>
                          <a:latin typeface="Arial"/>
                          <a:ea typeface="Arial"/>
                          <a:cs typeface="Arial"/>
                        </a:rPr>
                        <a:t>Readiness and eligibility</a:t>
                      </a:r>
                    </a:p>
                  </a:txBody>
                  <a:tcPr marL="114300" marR="114300" marT="95250" marB="95250">
                    <a:solidFill>
                      <a:srgbClr val="F1EEE4"/>
                    </a:solidFill>
                  </a:tcPr>
                </a:tc>
                <a:tc>
                  <a:txBody>
                    <a:bodyPr/>
                    <a:lstStyle/>
                    <a:p>
                      <a:r>
                        <a:rPr sz="1800">
                          <a:solidFill>
                            <a:srgbClr val="252527"/>
                          </a:solidFill>
                          <a:latin typeface="Arial"/>
                          <a:ea typeface="Arial"/>
                          <a:cs typeface="Arial"/>
                        </a:rPr>
                        <a:t>src/utils/scoring.ts, src/utils/placement.ts</a:t>
                      </a:r>
                    </a:p>
                  </a:txBody>
                  <a:tcPr marL="114300" marR="114300" marT="95250" marB="95250">
                    <a:solidFill>
                      <a:srgbClr val="F1EEE4"/>
                    </a:solidFill>
                  </a:tcPr>
                </a:tc>
              </a:tr>
              <a:tr h="517071">
                <a:tc>
                  <a:txBody>
                    <a:bodyPr/>
                    <a:lstStyle/>
                    <a:p>
                      <a:r>
                        <a:rPr sz="1800">
                          <a:solidFill>
                            <a:srgbClr val="252527"/>
                          </a:solidFill>
                          <a:latin typeface="Arial"/>
                          <a:ea typeface="Arial"/>
                          <a:cs typeface="Arial"/>
                        </a:rPr>
                        <a:t>NLP and hybrid matching</a:t>
                      </a:r>
                    </a:p>
                  </a:txBody>
                  <a:tcPr marL="114300" marR="114300" marT="95250" marB="95250">
                    <a:solidFill>
                      <a:srgbClr val="F1EEE4"/>
                    </a:solidFill>
                  </a:tcPr>
                </a:tc>
                <a:tc>
                  <a:txBody>
                    <a:bodyPr/>
                    <a:lstStyle/>
                    <a:p>
                      <a:r>
                        <a:rPr sz="1800">
                          <a:solidFill>
                            <a:srgbClr val="252527"/>
                          </a:solidFill>
                          <a:latin typeface="Arial"/>
                          <a:ea typeface="Arial"/>
                          <a:cs typeface="Arial"/>
                        </a:rPr>
                        <a:t>server/nlp.ts, server/services.ts</a:t>
                      </a:r>
                    </a:p>
                  </a:txBody>
                  <a:tcPr marL="114300" marR="114300" marT="95250" marB="95250">
                    <a:solidFill>
                      <a:srgbClr val="F1EEE4"/>
                    </a:solidFill>
                  </a:tcPr>
                </a:tc>
              </a:tr>
              <a:tr h="517071">
                <a:tc>
                  <a:txBody>
                    <a:bodyPr/>
                    <a:lstStyle/>
                    <a:p>
                      <a:r>
                        <a:rPr sz="1800">
                          <a:solidFill>
                            <a:srgbClr val="252527"/>
                          </a:solidFill>
                          <a:latin typeface="Arial"/>
                          <a:ea typeface="Arial"/>
                          <a:cs typeface="Arial"/>
                        </a:rPr>
                        <a:t>Optional prediction</a:t>
                      </a:r>
                    </a:p>
                  </a:txBody>
                  <a:tcPr marL="114300" marR="114300" marT="95250" marB="95250">
                    <a:solidFill>
                      <a:srgbClr val="F1EEE4"/>
                    </a:solidFill>
                  </a:tcPr>
                </a:tc>
                <a:tc>
                  <a:txBody>
                    <a:bodyPr/>
                    <a:lstStyle/>
                    <a:p>
                      <a:r>
                        <a:rPr sz="1800">
                          <a:solidFill>
                            <a:srgbClr val="252527"/>
                          </a:solidFill>
                          <a:latin typeface="Arial"/>
                          <a:ea typeface="Arial"/>
                          <a:cs typeface="Arial"/>
                        </a:rPr>
                        <a:t>server/ml.ts</a:t>
                      </a:r>
                    </a:p>
                  </a:txBody>
                  <a:tcPr marL="114300" marR="114300" marT="95250" marB="95250">
                    <a:solidFill>
                      <a:srgbClr val="F1EEE4"/>
                    </a:solidFill>
                  </a:tcPr>
                </a:tc>
              </a:tr>
              <a:tr h="517071">
                <a:tc>
                  <a:txBody>
                    <a:bodyPr/>
                    <a:lstStyle/>
                    <a:p>
                      <a:r>
                        <a:rPr sz="1800">
                          <a:solidFill>
                            <a:srgbClr val="252527"/>
                          </a:solidFill>
                          <a:latin typeface="Arial"/>
                          <a:ea typeface="Arial"/>
                          <a:cs typeface="Arial"/>
                        </a:rPr>
                        <a:t>Dataset and evaluation</a:t>
                      </a:r>
                    </a:p>
                  </a:txBody>
                  <a:tcPr marL="114300" marR="114300" marT="95250" marB="95250">
                    <a:solidFill>
                      <a:srgbClr val="F1EEE4"/>
                    </a:solidFill>
                  </a:tcPr>
                </a:tc>
                <a:tc>
                  <a:txBody>
                    <a:bodyPr/>
                    <a:lstStyle/>
                    <a:p>
                      <a:r>
                        <a:rPr sz="1800">
                          <a:solidFill>
                            <a:srgbClr val="252527"/>
                          </a:solidFill>
                          <a:latin typeface="Arial"/>
                          <a:ea typeface="Arial"/>
                          <a:cs typeface="Arial"/>
                        </a:rPr>
                        <a:t>scripts/placement-demo.ts, output/placement-demo-report.json</a:t>
                      </a:r>
                    </a:p>
                  </a:txBody>
                  <a:tcPr marL="114300" marR="114300" marT="95250" marB="95250">
                    <a:solidFill>
                      <a:srgbClr val="F1EEE4"/>
                    </a:solidFill>
                  </a:tcPr>
                </a:tc>
              </a:tr>
              <a:tr h="517071">
                <a:tc>
                  <a:txBody>
                    <a:bodyPr/>
                    <a:lstStyle/>
                    <a:p>
                      <a:r>
                        <a:rPr sz="1800">
                          <a:solidFill>
                            <a:srgbClr val="252527"/>
                          </a:solidFill>
                          <a:latin typeface="Arial"/>
                          <a:ea typeface="Arial"/>
                          <a:cs typeface="Arial"/>
                        </a:rPr>
                        <a:t>Deployment</a:t>
                      </a:r>
                    </a:p>
                  </a:txBody>
                  <a:tcPr marL="114300" marR="114300" marT="95250" marB="95250">
                    <a:solidFill>
                      <a:srgbClr val="F1EEE4"/>
                    </a:solidFill>
                  </a:tcPr>
                </a:tc>
                <a:tc>
                  <a:txBody>
                    <a:bodyPr/>
                    <a:lstStyle/>
                    <a:p>
                      <a:r>
                        <a:rPr sz="1800">
                          <a:solidFill>
                            <a:srgbClr val="252527"/>
                          </a:solidFill>
                          <a:latin typeface="Arial"/>
                          <a:ea typeface="Arial"/>
                          <a:cs typeface="Arial"/>
                        </a:rPr>
                        <a:t>render.yaml, vercel.json, next.config.mjs</a:t>
                      </a:r>
                    </a:p>
                  </a:txBody>
                  <a:tcPr marL="114300" marR="114300" marT="95250" marB="95250">
                    <a:solidFill>
                      <a:srgbClr val="F1EEE4"/>
                    </a:solidFill>
                  </a:tcPr>
                </a:tc>
              </a:tr>
            </a:tbl>
          </a:graphicData>
        </a:graphic>
      </p:graphicFrame>
    </p:spTree>
    <p:extLst>
      <p:ext uri="{BB962C8B-B14F-4D97-AF65-F5344CB8AC3E}">
        <p14:creationId xmlns:p14="http://schemas.microsoft.com/office/powerpoint/2010/main" val="2056861888"/>
      </p:ext>
    </p:extLst>
  </p:cSld>
</p:sld>
</file>

<file path=ppt/slides/slide24.xml><?xml version="1.0" encoding="utf-8"?>
<p:sld xmlns:p="http://schemas.openxmlformats.org/presentationml/2006/main">
  <p:cSld>
    <p:bg>
      <p:bgPr>
        <a:solidFill xmlns:a="http://schemas.openxmlformats.org/drawingml/2006/main">
          <a:srgbClr val="F1EEE4"/>
        </a:solidFill>
      </p:bgPr>
    </p:bg>
    <p:spTree>
      <p:nvGrpSpPr>
        <p:cNvPr id="1" name=""/>
        <p:cNvGrpSpPr/>
        <p:nvPr/>
      </p:nvGrpSpPr>
      <p:grpSpPr>
        <a:xfrm xmlns:a="http://schemas.openxmlformats.org/drawingml/2006/main"/>
      </p:grpSpPr>
      <p:sp>
        <p:nvSpPr>
          <p:cNvPr id="7" name="CAMPUSLINK">
            <a:extLst xmlns:a="http://schemas.openxmlformats.org/drawingml/2006/main">
              <a:ext uri="{FF2B5EF4-FFF2-40B4-BE49-F238E27FC236}">
                <a16:creationId xmlns:a16="http://schemas.microsoft.com/office/drawing/2014/main" id="{56168315-0E62-47FA-A697-9BA039505181}"/>
              </a:ext>
            </a:extLst>
          </p:cNvPr>
          <p:cNvSpPr>
            <a:spLocks xmlns:a="http://schemas.openxmlformats.org/drawingml/2006/main" noGrp="1"/>
          </p:cNvSpPr>
          <p:nvPr/>
        </p:nvSpPr>
        <p:spPr>
          <a:xfrm xmlns:a="http://schemas.openxmlformats.org/drawingml/2006/main">
            <a:off x="609600" y="304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350" b="1">
                <a:solidFill>
                  <a:srgbClr val="3C3E60"/>
                </a:solidFill>
                <a:latin typeface="Arial"/>
                <a:ea typeface="Arial"/>
                <a:cs typeface="Arial"/>
              </a:defRPr>
            </a:defPPr>
          </a:lstStyle>
          <a:p xmlns:a="http://schemas.openxmlformats.org/drawingml/2006/main">
            <a:pPr>
              <a:defRPr sz="1350" b="1">
                <a:solidFill>
                  <a:srgbClr val="3C3E60"/>
                </a:solidFill>
                <a:latin typeface="Arial"/>
                <a:ea typeface="Arial"/>
                <a:cs typeface="Arial"/>
              </a:defRPr>
            </a:pPr>
            <a:r>
              <a:rPr sz="1350" b="1">
                <a:solidFill>
                  <a:srgbClr val="3C3E60"/>
                </a:solidFill>
                <a:latin typeface="Arial"/>
                <a:ea typeface="Arial"/>
                <a:cs typeface="Arial"/>
              </a:rPr>
              <a:t>CAMPUSLINK</a:t>
            </a:r>
          </a:p>
        </p:txBody>
      </p:sp>
      <p:sp>
        <p:nvSpPr>
          <p:cNvPr id="2" name="THANK YOU">
            <a:extLst xmlns:a="http://schemas.openxmlformats.org/drawingml/2006/main">
              <a:ext uri="{FF2B5EF4-FFF2-40B4-BE49-F238E27FC236}">
                <a16:creationId xmlns:a16="http://schemas.microsoft.com/office/drawing/2014/main" id="{3893610C-6ADC-4D17-BF2F-1AD5953A8414}"/>
              </a:ext>
            </a:extLst>
          </p:cNvPr>
          <p:cNvSpPr>
            <a:spLocks xmlns:a="http://schemas.openxmlformats.org/drawingml/2006/main" noGrp="1"/>
          </p:cNvSpPr>
          <p:nvPr/>
        </p:nvSpPr>
        <p:spPr>
          <a:xfrm xmlns:a="http://schemas.openxmlformats.org/drawingml/2006/main">
            <a:off x="609600" y="86677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3300" b="1">
                <a:solidFill>
                  <a:srgbClr val="3C3E60"/>
                </a:solidFill>
                <a:latin typeface="Arial"/>
                <a:ea typeface="Arial"/>
                <a:cs typeface="Arial"/>
              </a:defRPr>
            </a:defPPr>
          </a:lstStyle>
          <a:p xmlns:a="http://schemas.openxmlformats.org/drawingml/2006/main">
            <a:pPr>
              <a:defRPr sz="3300" b="1">
                <a:solidFill>
                  <a:srgbClr val="3C3E60"/>
                </a:solidFill>
                <a:latin typeface="Arial"/>
                <a:ea typeface="Arial"/>
                <a:cs typeface="Arial"/>
              </a:defRPr>
            </a:pPr>
            <a:r>
              <a:rPr sz="3300" b="1">
                <a:solidFill>
                  <a:srgbClr val="3C3E60"/>
                </a:solidFill>
                <a:latin typeface="Arial"/>
                <a:ea typeface="Arial"/>
                <a:cs typeface="Arial"/>
              </a:rPr>
              <a:t>THANK YOU</a:t>
            </a:r>
          </a:p>
        </p:txBody>
      </p:sp>
      <p:sp>
        <p:nvSpPr>
          <p:cNvPr id="3" name="StartX / BPUT Hackathon 2026 / PS10">
            <a:extLst xmlns:a="http://schemas.openxmlformats.org/drawingml/2006/main">
              <a:ext uri="{FF2B5EF4-FFF2-40B4-BE49-F238E27FC236}">
                <a16:creationId xmlns:a16="http://schemas.microsoft.com/office/drawing/2014/main" id="{5FE785EF-8F3A-49CA-96D3-F53BEB4F90FC}"/>
              </a:ext>
            </a:extLst>
          </p:cNvPr>
          <p:cNvSpPr>
            <a:spLocks xmlns:a="http://schemas.openxmlformats.org/drawingml/2006/main" noGrp="1"/>
          </p:cNvSpPr>
          <p:nvPr/>
        </p:nvSpPr>
        <p:spPr>
          <a:xfrm xmlns:a="http://schemas.openxmlformats.org/drawingml/2006/main">
            <a:off x="609600" y="6429375"/>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1200" b="0">
                <a:solidFill>
                  <a:srgbClr val="66666D"/>
                </a:solidFill>
                <a:latin typeface="Arial"/>
                <a:ea typeface="Arial"/>
                <a:cs typeface="Arial"/>
              </a:defRPr>
            </a:defPPr>
          </a:lstStyle>
          <a:p xmlns:a="http://schemas.openxmlformats.org/drawingml/2006/main">
            <a:pPr>
              <a:defRPr sz="1200" b="0">
                <a:solidFill>
                  <a:srgbClr val="66666D"/>
                </a:solidFill>
                <a:latin typeface="Arial"/>
                <a:ea typeface="Arial"/>
                <a:cs typeface="Arial"/>
              </a:defRPr>
            </a:pPr>
            <a:r>
              <a:rPr sz="1200" b="0">
                <a:solidFill>
                  <a:srgbClr val="66666D"/>
                </a:solidFill>
                <a:latin typeface="Arial"/>
                <a:ea typeface="Arial"/>
                <a:cs typeface="Arial"/>
              </a:rPr>
              <a:t>StartX / BPUT Hackathon 2026 / PS10</a:t>
            </a:r>
          </a:p>
        </p:txBody>
      </p:sp>
      <p:sp>
        <p:nvSpPr>
          <p:cNvPr id="4" name="24">
            <a:extLst xmlns:a="http://schemas.openxmlformats.org/drawingml/2006/main">
              <a:ext uri="{FF2B5EF4-FFF2-40B4-BE49-F238E27FC236}">
                <a16:creationId xmlns:a16="http://schemas.microsoft.com/office/drawing/2014/main" id="{4E5E7394-BBFD-4341-B97C-F48D80906751}"/>
              </a:ext>
            </a:extLst>
          </p:cNvPr>
          <p:cNvSpPr>
            <a:spLocks xmlns:a="http://schemas.openxmlformats.org/drawingml/2006/main" noGrp="1"/>
          </p:cNvSpPr>
          <p:nvPr/>
        </p:nvSpPr>
        <p:spPr>
          <a:xfrm xmlns:a="http://schemas.openxmlformats.org/drawingml/2006/main">
            <a:off x="11049000" y="6324600"/>
            <a:ext cx="533400" cy="361950"/>
          </a:xfrm>
          <a:prstGeom xmlns:a="http://schemas.openxmlformats.org/drawingml/2006/main" prst="rect">
            <a:avLst/>
          </a:prstGeom>
          <a:solidFill xmlns:a="http://schemas.openxmlformats.org/drawingml/2006/main">
            <a:srgbClr val="3C3E60"/>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24</a:t>
            </a:r>
          </a:p>
        </p:txBody>
      </p:sp>
      <p:sp>
        <p:nvSpPr>
          <p:cNvPr id="5" name="Questions and Discussion">
            <a:extLst xmlns:a="http://schemas.openxmlformats.org/drawingml/2006/main">
              <a:ext uri="{FF2B5EF4-FFF2-40B4-BE49-F238E27FC236}">
                <a16:creationId xmlns:a16="http://schemas.microsoft.com/office/drawing/2014/main" id="{CCC231C0-8137-456F-B1F3-F0436ED9896F}"/>
              </a:ext>
            </a:extLst>
          </p:cNvPr>
          <p:cNvSpPr>
            <a:spLocks xmlns:a="http://schemas.openxmlformats.org/drawingml/2006/main" noGrp="1"/>
          </p:cNvSpPr>
          <p:nvPr/>
        </p:nvSpPr>
        <p:spPr>
          <a:xfrm xmlns:a="http://schemas.openxmlformats.org/drawingml/2006/main">
            <a:off x="666750" y="2762250"/>
            <a:ext cx="10839450" cy="800100"/>
          </a:xfrm>
          <a:prstGeom xmlns:a="http://schemas.openxmlformats.org/drawingml/2006/main" prst="rect">
            <a:avLst/>
          </a:prstGeom>
          <a:solidFill xmlns:a="http://schemas.openxmlformats.org/drawingml/2006/main">
            <a:srgbClr val="CDC2DB"/>
          </a:solidFill>
          <a:ln xmlns:a="http://schemas.openxmlformats.org/drawingml/2006/main" w="0">
            <a:noFill/>
          </a:ln>
        </p:spPr>
        <p:txBody>
          <a:bodyPr xmlns:a="http://schemas.openxmlformats.org/drawingml/2006/main" lIns="114300" tIns="114300" rIns="114300" bIns="114300">
            <a:noAutofit/>
          </a:bodyPr>
          <a:lstStyle xmlns:a="http://schemas.openxmlformats.org/drawingml/2006/main">
            <a:defPPr>
              <a:defRPr sz="3600" b="1">
                <a:solidFill>
                  <a:srgbClr val="3C3E60"/>
                </a:solidFill>
                <a:latin typeface="Arial"/>
                <a:ea typeface="Arial"/>
                <a:cs typeface="Arial"/>
              </a:defRPr>
            </a:defPPr>
          </a:lstStyle>
          <a:p xmlns:a="http://schemas.openxmlformats.org/drawingml/2006/main">
            <a:pPr>
              <a:defRPr sz="3600" b="1">
                <a:solidFill>
                  <a:srgbClr val="3C3E60"/>
                </a:solidFill>
                <a:latin typeface="Arial"/>
                <a:ea typeface="Arial"/>
                <a:cs typeface="Arial"/>
              </a:defRPr>
            </a:pPr>
            <a:r>
              <a:rPr sz="3600" b="1">
                <a:solidFill>
                  <a:srgbClr val="3C3E60"/>
                </a:solidFill>
                <a:latin typeface="Arial"/>
                <a:ea typeface="Arial"/>
                <a:cs typeface="Arial"/>
              </a:rPr>
              <a:t>Questions and Discussion</a:t>
            </a:r>
          </a:p>
        </p:txBody>
      </p:sp>
      <p:sp>
        <p:nvSpPr>
          <p:cNvPr id="6" name="CampusLink&#10;Connecting students, campuses and ">
            <a:extLst xmlns:a="http://schemas.openxmlformats.org/drawingml/2006/main">
              <a:ext uri="{FF2B5EF4-FFF2-40B4-BE49-F238E27FC236}">
                <a16:creationId xmlns:a16="http://schemas.microsoft.com/office/drawing/2014/main" id="{30D6AC17-90AA-441A-98C7-6C48386BBD6F}"/>
              </a:ext>
            </a:extLst>
          </p:cNvPr>
          <p:cNvSpPr>
            <a:spLocks xmlns:a="http://schemas.openxmlformats.org/drawingml/2006/main" noGrp="1"/>
          </p:cNvSpPr>
          <p:nvPr/>
        </p:nvSpPr>
        <p:spPr>
          <a:xfrm xmlns:a="http://schemas.openxmlformats.org/drawingml/2006/main">
            <a:off x="666750" y="4057650"/>
            <a:ext cx="108394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defRPr sz="2550" b="0">
                <a:solidFill>
                  <a:srgbClr val="252527"/>
                </a:solidFill>
                <a:latin typeface="Arial"/>
                <a:ea typeface="Arial"/>
                <a:cs typeface="Arial"/>
              </a:defRPr>
            </a:defPPr>
          </a:lstStyle>
          <a:p xmlns:a="http://schemas.openxmlformats.org/drawingml/2006/main">
            <a:pPr>
              <a:defRPr sz="2550" b="0">
                <a:solidFill>
                  <a:srgbClr val="252527"/>
                </a:solidFill>
                <a:latin typeface="Arial"/>
                <a:ea typeface="Arial"/>
                <a:cs typeface="Arial"/>
              </a:defRPr>
            </a:pPr>
            <a:r>
              <a:rPr sz="2550" b="0">
                <a:solidFill>
                  <a:srgbClr val="252527"/>
                </a:solidFill>
                <a:latin typeface="Arial"/>
                <a:ea typeface="Arial"/>
                <a:cs typeface="Arial"/>
              </a:rPr>
              <a:t>CampusLink</a:t>
            </a:r>
          </a:p>
          <a:p xmlns:a="http://schemas.openxmlformats.org/drawingml/2006/main">
            <a:pPr>
              <a:defRPr sz="2550" b="0">
                <a:solidFill>
                  <a:srgbClr val="252527"/>
                </a:solidFill>
                <a:latin typeface="Arial"/>
                <a:ea typeface="Arial"/>
                <a:cs typeface="Arial"/>
              </a:defRPr>
            </a:pPr>
            <a:r>
              <a:rPr sz="2550" b="0">
                <a:solidFill>
                  <a:srgbClr val="252527"/>
                </a:solidFill>
                <a:latin typeface="Arial"/>
                <a:ea typeface="Arial"/>
                <a:cs typeface="Arial"/>
              </a:rPr>
              <a:t>Connecting students, campuses and careers</a:t>
            </a:r>
          </a:p>
        </p:txBody>
      </p:sp>
    </p:spTree>
    <p:extLst>
      <p:ext uri="{BB962C8B-B14F-4D97-AF65-F5344CB8AC3E}">
        <p14:creationId xmlns:p14="http://schemas.microsoft.com/office/powerpoint/2010/main" val="23719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2026-10-09T07:27:06.7230000Z</dcterms:created>
  <dcterms:modified xsi:type="dcterms:W3CDTF">2026-10-09T07:27:06.7230000Z</dcterms:modified>
</coreProperties>
</file>